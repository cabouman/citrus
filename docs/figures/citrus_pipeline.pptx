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868680"/>
            <a:ext cx="2057400" cy="86868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3864"/>
                </a:solidFill>
                <a:latin typeface="Calibri"/>
              </a:rPr>
              <a:t>Measured projections</a:t>
            </a:r>
          </a:p>
          <a:p>
            <a:pPr algn="ctr"/>
            <a:r>
              <a:rPr sz="1100" b="0">
                <a:solidFill>
                  <a:srgbClr val="1F3864"/>
                </a:solidFill>
                <a:latin typeface="Calibri"/>
              </a:rPr>
              <a:t>counts Y = primary + scatter,</a:t>
            </a:r>
          </a:p>
          <a:p>
            <a:pPr algn="ctr"/>
            <a:r>
              <a:rPr sz="1100" b="0">
                <a:solidFill>
                  <a:srgbClr val="1F3864"/>
                </a:solidFill>
                <a:latin typeface="Calibri"/>
              </a:rPr>
              <a:t>flat field I0, view angles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2240280"/>
            <a:ext cx="2057400" cy="86868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3864"/>
                </a:solidFill>
                <a:latin typeface="Calibri"/>
              </a:rPr>
              <a:t>FDK initialization</a:t>
            </a:r>
          </a:p>
          <a:p>
            <a:pPr algn="ctr"/>
            <a:r>
              <a:rPr sz="1100" b="0">
                <a:solidFill>
                  <a:srgbClr val="1F3864"/>
                </a:solidFill>
                <a:latin typeface="Calibri"/>
              </a:rPr>
              <a:t>Parker weights for a short scan</a:t>
            </a:r>
          </a:p>
          <a:p>
            <a:pPr algn="ctr"/>
            <a:r>
              <a:rPr sz="1100" b="0">
                <a:solidFill>
                  <a:srgbClr val="1F3864"/>
                </a:solidFill>
                <a:latin typeface="Calibri"/>
              </a:rPr>
              <a:t>(MBIRTORCH)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3611880"/>
            <a:ext cx="2057400" cy="64008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3864"/>
                </a:solidFill>
                <a:latin typeface="Calibri"/>
              </a:rPr>
              <a:t>Initial volume X₀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48740" y="1737360"/>
            <a:ext cx="0" cy="50292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348740" y="3108960"/>
            <a:ext cx="0" cy="50292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788920" y="411480"/>
            <a:ext cx="9098280" cy="544068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404040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57200"/>
            <a:ext cx="8686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Outer iteration k:  one scatter step per view  +  one MBIR iteration   (repeated N times)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914400"/>
            <a:ext cx="3566160" cy="96012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385723"/>
                </a:solidFill>
                <a:latin typeface="Calibri"/>
              </a:rPr>
              <a:t>Density model</a:t>
            </a:r>
          </a:p>
          <a:p>
            <a:pPr algn="ctr"/>
            <a:r>
              <a:rPr sz="1100" b="0">
                <a:solidFill>
                  <a:srgbClr val="385723"/>
                </a:solidFill>
                <a:latin typeface="Calibri"/>
              </a:rPr>
              <a:t>Xₖ → densities of the anchor materials</a:t>
            </a:r>
          </a:p>
          <a:p>
            <a:pPr algn="ctr"/>
            <a:r>
              <a:rPr sz="1100" b="0">
                <a:solidFill>
                  <a:srgbClr val="385723"/>
                </a:solidFill>
                <a:latin typeface="Calibri"/>
              </a:rPr>
              <a:t>(two materials per voxel, one map at a time)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914400"/>
            <a:ext cx="4572000" cy="96012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385723"/>
                </a:solidFill>
                <a:latin typeface="Calibri"/>
              </a:rPr>
              <a:t>Transport and quadrature grids</a:t>
            </a:r>
          </a:p>
          <a:p>
            <a:pPr algn="ctr"/>
            <a:r>
              <a:rPr sz="1100" b="0">
                <a:solidFill>
                  <a:srgbClr val="385723"/>
                </a:solidFill>
                <a:latin typeface="Calibri"/>
              </a:rPr>
              <a:t>conservative resampling onto cubic transport cells (1 cm)</a:t>
            </a:r>
          </a:p>
          <a:p>
            <a:pPr algn="ctr"/>
            <a:r>
              <a:rPr sz="1100" b="0">
                <a:solidFill>
                  <a:srgbClr val="385723"/>
                </a:solidFill>
                <a:latin typeface="Calibri"/>
              </a:rPr>
              <a:t>and q³ quadrature points per cell, any voxel size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66560" y="1394460"/>
            <a:ext cx="36576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11880" y="2148840"/>
            <a:ext cx="8138159" cy="1783080"/>
          </a:xfrm>
          <a:prstGeom prst="rect">
            <a:avLst/>
          </a:prstGeom>
          <a:solidFill>
            <a:srgbClr val="FDF3EC"/>
          </a:solidFill>
          <a:ln w="952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843C0C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176272"/>
            <a:ext cx="7772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1000" b="1" i="0">
                <a:solidFill>
                  <a:srgbClr val="843C0C"/>
                </a:solidFill>
                <a:latin typeface="Calibri"/>
              </a:rPr>
              <a:t>LBTE scatter solver, one step per view v (deterministic, multigroup, discrete ordinates)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2514600"/>
            <a:ext cx="2514600" cy="11430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843C0C"/>
                </a:solidFill>
                <a:latin typeface="Calibri"/>
              </a:rPr>
              <a:t>Uncollided fluence</a:t>
            </a:r>
          </a:p>
          <a:p>
            <a:pPr algn="ctr"/>
            <a:r>
              <a:rPr sz="1100" b="0">
                <a:solidFill>
                  <a:srgbClr val="843C0C"/>
                </a:solidFill>
                <a:latin typeface="Calibri"/>
              </a:rPr>
              <a:t>ray traced through the quadrature grid,</a:t>
            </a:r>
          </a:p>
          <a:p>
            <a:pPr algn="ctr"/>
            <a:r>
              <a:rPr sz="1100" b="0">
                <a:solidFill>
                  <a:srgbClr val="843C0C"/>
                </a:solidFill>
                <a:latin typeface="Calibri"/>
              </a:rPr>
              <a:t>first-collision source on its points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514600"/>
            <a:ext cx="2697480" cy="11430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843C0C"/>
                </a:solidFill>
                <a:latin typeface="Calibri"/>
              </a:rPr>
              <a:t>One transport sweep</a:t>
            </a:r>
          </a:p>
          <a:p>
            <a:pPr algn="ctr"/>
            <a:r>
              <a:rPr sz="1000" b="0">
                <a:solidFill>
                  <a:srgbClr val="843C0C"/>
                </a:solidFill>
                <a:latin typeface="Calibri"/>
              </a:rPr>
              <a:t>linear-discontinuous cells of C, fed by</a:t>
            </a:r>
          </a:p>
          <a:p>
            <a:pPr algn="ctr"/>
            <a:r>
              <a:rPr sz="1000" b="0">
                <a:solidFill>
                  <a:srgbClr val="843C0C"/>
                </a:solidFill>
                <a:latin typeface="Calibri"/>
              </a:rPr>
              <a:t>the first-collision source + the</a:t>
            </a:r>
          </a:p>
          <a:p>
            <a:pPr algn="ctr"/>
            <a:r>
              <a:rPr sz="1000" b="0">
                <a:solidFill>
                  <a:srgbClr val="843C0C"/>
                </a:solidFill>
                <a:latin typeface="Calibri"/>
              </a:rPr>
              <a:t>aged accumulator Φᵥ⁽ᵏ⁻¹⁾ → Φᵥ⁽ᵏ⁾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9760" y="2514600"/>
            <a:ext cx="2148840" cy="11430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843C0C"/>
                </a:solidFill>
                <a:latin typeface="Calibri"/>
              </a:rPr>
              <a:t>Collapsed-cone projection</a:t>
            </a:r>
          </a:p>
          <a:p>
            <a:pPr algn="ctr"/>
            <a:r>
              <a:rPr sz="1000" b="0">
                <a:solidFill>
                  <a:srgbClr val="843C0C"/>
                </a:solidFill>
                <a:latin typeface="Calibri"/>
              </a:rPr>
              <a:t>first-order + multiple-collision</a:t>
            </a:r>
          </a:p>
          <a:p>
            <a:pPr algn="ctr"/>
            <a:r>
              <a:rPr sz="1000" b="0">
                <a:solidFill>
                  <a:srgbClr val="843C0C"/>
                </a:solidFill>
                <a:latin typeface="Calibri"/>
              </a:rPr>
              <a:t>emission to the panel</a:t>
            </a:r>
          </a:p>
          <a:p>
            <a:pPr algn="ctr"/>
            <a:r>
              <a:rPr sz="1000" b="0">
                <a:solidFill>
                  <a:srgbClr val="843C0C"/>
                </a:solidFill>
                <a:latin typeface="Calibri"/>
              </a:rPr>
              <a:t>→ scatter sᵥ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39" y="3086100"/>
            <a:ext cx="274321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235440" y="3086100"/>
            <a:ext cx="27432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709660" y="3657600"/>
            <a:ext cx="0" cy="155448"/>
          </a:xfrm>
          <a:prstGeom prst="line">
            <a:avLst/>
          </a:prstGeom>
          <a:ln w="15875">
            <a:solidFill>
              <a:srgbClr val="C55A1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063740" y="3813048"/>
            <a:ext cx="1645920" cy="0"/>
          </a:xfrm>
          <a:prstGeom prst="line">
            <a:avLst/>
          </a:prstGeom>
          <a:ln w="15875">
            <a:solidFill>
              <a:srgbClr val="C55A1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063740" y="3666744"/>
            <a:ext cx="0" cy="146304"/>
          </a:xfrm>
          <a:prstGeom prst="line">
            <a:avLst/>
          </a:prstGeom>
          <a:ln w="15875">
            <a:solidFill>
              <a:srgbClr val="C55A11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06540" y="3675887"/>
            <a:ext cx="256032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800" b="0" i="1">
                <a:solidFill>
                  <a:srgbClr val="843C0C"/>
                </a:solidFill>
                <a:latin typeface="Calibri"/>
              </a:rPr>
              <a:t>Φᵥ kept per view across outer iterations (age-ordered source iteration)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434340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E4DFEC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3F1F5E"/>
                </a:solidFill>
                <a:latin typeface="Calibri"/>
              </a:rPr>
              <a:t>Primary pᵥ of every view</a:t>
            </a:r>
          </a:p>
          <a:p>
            <a:pPr algn="ctr"/>
            <a:r>
              <a:rPr sz="1000" b="0">
                <a:solidFill>
                  <a:srgbClr val="3F1F5E"/>
                </a:solidFill>
                <a:latin typeface="Calibri"/>
              </a:rPr>
              <a:t>MBIRTORCH per-material projections,</a:t>
            </a:r>
          </a:p>
          <a:p>
            <a:pPr algn="ctr"/>
            <a:r>
              <a:rPr sz="1000" b="0">
                <a:solidFill>
                  <a:srgbClr val="3F1F5E"/>
                </a:solidFill>
                <a:latin typeface="Calibri"/>
              </a:rPr>
              <a:t>spectrum + detector response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4343400"/>
            <a:ext cx="2011680" cy="9601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7F6000"/>
                </a:solidFill>
                <a:latin typeface="Calibri"/>
              </a:rPr>
              <a:t>Scatter-to-primary ratio</a:t>
            </a:r>
          </a:p>
          <a:p>
            <a:pPr algn="ctr"/>
            <a:r>
              <a:rPr sz="1000" b="0">
                <a:solidFill>
                  <a:srgbClr val="7F6000"/>
                </a:solidFill>
                <a:latin typeface="Calibri"/>
              </a:rPr>
              <a:t>SPRᵥ = sᵥ / pᵥ</a:t>
            </a:r>
          </a:p>
          <a:p>
            <a:pPr algn="ctr"/>
            <a:r>
              <a:rPr sz="1000" b="0">
                <a:solidFill>
                  <a:srgbClr val="7F6000"/>
                </a:solidFill>
                <a:latin typeface="Calibri"/>
              </a:rPr>
              <a:t>(interpolated in angle for</a:t>
            </a:r>
          </a:p>
          <a:p>
            <a:pPr algn="ctr"/>
            <a:r>
              <a:rPr sz="1000" b="0">
                <a:solidFill>
                  <a:srgbClr val="7F6000"/>
                </a:solidFill>
                <a:latin typeface="Calibri"/>
              </a:rPr>
              <a:t>skipped views)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34340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5875">
            <a:solidFill>
              <a:srgbClr val="BF9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7F6000"/>
                </a:solidFill>
                <a:latin typeface="Calibri"/>
              </a:rPr>
              <a:t>Corrected counts</a:t>
            </a:r>
          </a:p>
          <a:p>
            <a:pPr algn="ctr"/>
            <a:r>
              <a:rPr sz="1000" b="0">
                <a:solidFill>
                  <a:srgbClr val="7F6000"/>
                </a:solidFill>
                <a:latin typeface="Calibri"/>
              </a:rPr>
              <a:t>Yᵥ / (1 + SPRᵥ)</a:t>
            </a:r>
          </a:p>
          <a:p>
            <a:pPr algn="ctr"/>
            <a:r>
              <a:rPr sz="1000" b="0">
                <a:solidFill>
                  <a:srgbClr val="7F6000"/>
                </a:solidFill>
                <a:latin typeface="Calibri"/>
              </a:rPr>
              <a:t>line integrals</a:t>
            </a:r>
          </a:p>
          <a:p>
            <a:pPr algn="ctr"/>
            <a:r>
              <a:rPr sz="1000" b="0">
                <a:solidFill>
                  <a:srgbClr val="7F6000"/>
                </a:solidFill>
                <a:latin typeface="Calibri"/>
              </a:rPr>
              <a:t>−log(Yᵥ / I0)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434340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One warm-started</a:t>
            </a:r>
          </a:p>
          <a:p>
            <a:pPr algn="ctr"/>
            <a:r>
              <a:rPr sz="1000" b="0">
                <a:solidFill>
                  <a:srgbClr val="1F3864"/>
                </a:solidFill>
                <a:latin typeface="Calibri"/>
              </a:rPr>
              <a:t>MBIR iteration</a:t>
            </a:r>
          </a:p>
          <a:p>
            <a:pPr algn="ctr"/>
            <a:r>
              <a:rPr sz="1000" b="0">
                <a:solidFill>
                  <a:srgbClr val="1F3864"/>
                </a:solidFill>
                <a:latin typeface="Calibri"/>
              </a:rPr>
              <a:t>MBIRTORCH coordinate descent,</a:t>
            </a:r>
          </a:p>
          <a:p>
            <a:pPr algn="ctr"/>
            <a:r>
              <a:rPr sz="1000" b="0">
                <a:solidFill>
                  <a:srgbClr val="1F3864"/>
                </a:solidFill>
                <a:latin typeface="Calibri"/>
              </a:rPr>
              <a:t>resumed error sinogram → Xₖ₊₁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03520" y="4823460"/>
            <a:ext cx="2286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543800" y="4823460"/>
            <a:ext cx="2286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601200" y="4823460"/>
            <a:ext cx="22860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006339" y="1874519"/>
            <a:ext cx="0" cy="640081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86700" y="1874519"/>
            <a:ext cx="0" cy="274321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383280" y="1874519"/>
            <a:ext cx="0" cy="2468881"/>
          </a:xfrm>
          <a:prstGeom prst="line">
            <a:avLst/>
          </a:prstGeom>
          <a:ln w="15875">
            <a:solidFill>
              <a:srgbClr val="54823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99232" y="2926080"/>
            <a:ext cx="4572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900" b="0" i="1">
                <a:solidFill>
                  <a:srgbClr val="385723"/>
                </a:solidFill>
                <a:latin typeface="Calibri"/>
              </a:rPr>
              <a:t>ρₘ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584180" y="3657600"/>
            <a:ext cx="0" cy="475487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6812280" y="4133087"/>
            <a:ext cx="377190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12280" y="4133087"/>
            <a:ext cx="0" cy="210313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85432" y="4114800"/>
            <a:ext cx="54864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900" b="0" i="1">
                <a:solidFill>
                  <a:srgbClr val="843C0C"/>
                </a:solidFill>
                <a:latin typeface="Calibri"/>
              </a:rPr>
              <a:t>sᵥ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377440" y="3931920"/>
            <a:ext cx="228600" cy="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06040" y="1211580"/>
            <a:ext cx="0" cy="2720340"/>
          </a:xfrm>
          <a:prstGeom prst="line">
            <a:avLst/>
          </a:prstGeom>
          <a:ln w="19050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06040" y="1211580"/>
            <a:ext cx="59436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658600" y="4823460"/>
            <a:ext cx="137160" cy="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1795760" y="4823460"/>
            <a:ext cx="0" cy="80010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971800" y="5623560"/>
            <a:ext cx="8823960" cy="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71800" y="1577339"/>
            <a:ext cx="0" cy="4046221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971800" y="1577339"/>
            <a:ext cx="228600" cy="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943600" y="5440680"/>
            <a:ext cx="32004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/>
            <a:r>
              <a:rPr sz="900" b="0" i="1">
                <a:solidFill>
                  <a:srgbClr val="1F3864"/>
                </a:solidFill>
                <a:latin typeface="Calibri"/>
              </a:rPr>
              <a:t>Xₖ₊₁ → next outer iteration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29800" y="6080760"/>
            <a:ext cx="1828800" cy="594360"/>
          </a:xfrm>
          <a:prstGeom prst="roundRect">
            <a:avLst>
              <a:gd name="adj" fmla="val 12000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00" b="1">
                <a:solidFill>
                  <a:srgbClr val="1F3864"/>
                </a:solidFill>
                <a:latin typeface="Calibri"/>
              </a:rPr>
              <a:t>Scatter-corrected</a:t>
            </a:r>
          </a:p>
          <a:p>
            <a:pPr algn="ctr"/>
            <a:r>
              <a:rPr sz="1000" b="0">
                <a:solidFill>
                  <a:srgbClr val="1F3864"/>
                </a:solidFill>
                <a:latin typeface="Calibri"/>
              </a:rPr>
              <a:t>reconstruction X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744200" y="5303520"/>
            <a:ext cx="0" cy="77724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320040" y="45720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1">
                <a:solidFill>
                  <a:srgbClr val="404040"/>
                </a:solidFill>
                <a:latin typeface="Calibri"/>
              </a:rPr>
              <a:t>Options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scatter stage every n outer iterations;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scatter step on every n-th view, the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others interpolated in angle; anchor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materials chosen from the catalogue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172200"/>
            <a:ext cx="7772400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/>
            <a:r>
              <a:rPr sz="900" b="0" i="1">
                <a:solidFill>
                  <a:srgbClr val="404040"/>
                </a:solidFill>
                <a:latin typeface="Calibri"/>
              </a:rPr>
              <a:t>CITRUS: Coupled Iterative Tomographic reconstruction and Recursively-Updated Scatter.</a:t>
            </a:r>
          </a:p>
          <a:p>
            <a:pPr algn="l"/>
            <a:r>
              <a:rPr sz="900" b="0" i="1">
                <a:solidFill>
                  <a:srgbClr val="404040"/>
                </a:solidFill>
                <a:latin typeface="Calibri"/>
              </a:rPr>
              <a:t>With the densities held fixed, N steps reproduce N source iterations; the scatter converges with the reconstruction.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