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4630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Measured projections Y</a:t>
            </a:r>
          </a:p>
          <a:p>
            <a:pPr algn="ctr"/>
            <a:r>
              <a:rPr sz="1200" b="0">
                <a:solidFill>
                  <a:srgbClr val="1F3864"/>
                </a:solidFill>
                <a:latin typeface="Calibri"/>
              </a:rPr>
              <a:t>primary + scatter, all views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301752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Initial reconstruction X₀</a:t>
            </a:r>
          </a:p>
          <a:p>
            <a:pPr algn="ctr"/>
            <a:r>
              <a:rPr sz="1200" b="0">
                <a:solidFill>
                  <a:srgbClr val="1F3864"/>
                </a:solidFill>
                <a:latin typeface="Calibri"/>
              </a:rPr>
              <a:t>(FDK)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71600" y="2331720"/>
            <a:ext cx="0" cy="68580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0" y="365760"/>
            <a:ext cx="9144000" cy="580644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404040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11480"/>
            <a:ext cx="82296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300" b="1" i="0">
                <a:solidFill>
                  <a:srgbClr val="404040"/>
                </a:solidFill>
                <a:latin typeface="Calibri"/>
              </a:rPr>
              <a:t>Outer iteration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914400"/>
            <a:ext cx="2240280" cy="96012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85723"/>
                </a:solidFill>
                <a:latin typeface="Calibri"/>
              </a:rPr>
              <a:t>Material densities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ρ(Xₖ): each voxel a mixture of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two anchor materials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868680"/>
            <a:ext cx="5943600" cy="201168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27432"/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/>
            </a:r>
            <a:r>
              <a:rPr sz="1300" b="1">
                <a:solidFill>
                  <a:srgbClr val="843C0C"/>
                </a:solidFill>
                <a:latin typeface="Calibri"/>
              </a:rPr>
              <a:t>Age-ordered scatter recursion:  one transport sweep Gₖ per view</a:t>
            </a:r>
          </a:p>
          <a:p>
            <a:pPr algn="ctr"/>
            <a:r>
              <a:rPr sz="400" b="0">
                <a:solidFill>
                  <a:srgbClr val="843C0C"/>
                </a:solidFill>
                <a:latin typeface="Calibri"/>
              </a:rPr>
              <a:t/>
            </a:r>
          </a:p>
          <a:p>
            <a:pPr algn="ctr"/>
            <a:r>
              <a:rPr sz="1800" b="1">
                <a:solidFill>
                  <a:srgbClr val="843C0C"/>
                </a:solidFill>
                <a:latin typeface="Calibri"/>
              </a:rPr>
              <a:t>Φᵥ⁽ᵏ⁾  =  Gₖ φ₁(Xₖ)  +  Gₖ Φᵥ⁽ᵏ⁻¹⁾</a:t>
            </a:r>
          </a:p>
          <a:p>
            <a:pPr algn="ctr"/>
            <a:r>
              <a:rPr sz="900" b="0">
                <a:solidFill>
                  <a:srgbClr val="C55A11"/>
                </a:solidFill>
                <a:latin typeface="Calibri"/>
              </a:rPr>
              <a:t>newest first-collision source        previous accumulator</a:t>
            </a:r>
          </a:p>
          <a:p>
            <a:pPr algn="ctr"/>
            <a:r>
              <a:rPr sz="400" b="0">
                <a:solidFill>
                  <a:srgbClr val="843C0C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843C0C"/>
                </a:solidFill>
                <a:latin typeface="Calibri"/>
              </a:rPr>
              <a:t>=  Gₖ φ₁⁽ᵏ⁾  +  GₖGₖ₋₁ φ₁⁽ᵏ⁻¹⁾  +  GₖGₖ₋₁Gₖ₋₂ φ₁⁽ᵏ⁻²⁾  +  …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2nd-order scatter from Xₖ,  3rd order from Xₖ₋₁,  4th order from Xₖ₋₂, …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the dominant low orders are refreshed from the newest reconstruction;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stale information is pushed into the weak, smooth high 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03520" y="1394460"/>
            <a:ext cx="36576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515600" y="2880360"/>
            <a:ext cx="0" cy="274319"/>
          </a:xfrm>
          <a:prstGeom prst="line">
            <a:avLst/>
          </a:prstGeom>
          <a:ln w="25400">
            <a:solidFill>
              <a:srgbClr val="C55A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766560" y="3154679"/>
            <a:ext cx="3749040" cy="0"/>
          </a:xfrm>
          <a:prstGeom prst="line">
            <a:avLst/>
          </a:prstGeom>
          <a:ln w="25400">
            <a:solidFill>
              <a:srgbClr val="C55A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766560" y="2889503"/>
            <a:ext cx="0" cy="265176"/>
          </a:xfrm>
          <a:prstGeom prst="line">
            <a:avLst/>
          </a:prstGeom>
          <a:ln w="25400">
            <a:solidFill>
              <a:srgbClr val="C55A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0" y="2935224"/>
            <a:ext cx="356616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843C0C"/>
                </a:solidFill>
                <a:latin typeface="Calibri"/>
              </a:rPr>
              <a:t>Φᵥ⁽ᵏ⁾ kept per view → enters the next outer iteration as Φᵥ⁽ᵏ⁾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3977639"/>
            <a:ext cx="361188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7F6000"/>
                </a:solidFill>
                <a:latin typeface="Calibri"/>
              </a:rPr>
              <a:t>Scatter-to-primary ratio of every view</a:t>
            </a:r>
          </a:p>
          <a:p>
            <a:pPr algn="ctr"/>
            <a:r>
              <a:rPr sz="1100" b="0">
                <a:solidFill>
                  <a:srgbClr val="7F6000"/>
                </a:solidFill>
                <a:latin typeface="Calibri"/>
              </a:rPr>
              <a:t>SPRᵥ = sᵥ / pᵥ</a:t>
            </a:r>
          </a:p>
          <a:p>
            <a:pPr algn="ctr"/>
            <a:r>
              <a:rPr sz="1100" b="0">
                <a:solidFill>
                  <a:srgbClr val="7F6000"/>
                </a:solidFill>
                <a:latin typeface="Calibri"/>
              </a:rPr>
              <a:t>sᵥ: projected scatter of Φᵥ⁽ᵏ⁾;  pᵥ: primary of Xₖ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3977639"/>
            <a:ext cx="219456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7F6000"/>
                </a:solidFill>
                <a:latin typeface="Calibri"/>
              </a:rPr>
              <a:t>Corrected projections</a:t>
            </a:r>
          </a:p>
          <a:p>
            <a:pPr algn="ctr"/>
            <a:r>
              <a:rPr sz="1100" b="0">
                <a:solidFill>
                  <a:srgbClr val="7F6000"/>
                </a:solidFill>
                <a:latin typeface="Calibri"/>
              </a:rPr>
              <a:t>Yᵥ / (1 + SPRᵥ)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3977639"/>
            <a:ext cx="2103120" cy="100584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3864"/>
                </a:solidFill>
                <a:latin typeface="Calibri"/>
              </a:rPr>
              <a:t>n MBIR iterations</a:t>
            </a:r>
          </a:p>
          <a:p>
            <a:pPr algn="ctr"/>
            <a:r>
              <a:rPr sz="1100" b="0">
                <a:solidFill>
                  <a:srgbClr val="1F3864"/>
                </a:solidFill>
                <a:latin typeface="Calibri"/>
              </a:rPr>
              <a:t>warm-started at Xₖ  →  Xₖ₊₁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12279" y="3154679"/>
            <a:ext cx="0" cy="5943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417820" y="3749039"/>
            <a:ext cx="1394459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17820" y="3749039"/>
            <a:ext cx="0" cy="22860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90972" y="3749039"/>
            <a:ext cx="457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000" b="0" i="1">
                <a:solidFill>
                  <a:srgbClr val="843C0C"/>
                </a:solidFill>
                <a:latin typeface="Calibri"/>
              </a:rPr>
              <a:t>sᵥ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34740" y="1874519"/>
            <a:ext cx="0" cy="2103120"/>
          </a:xfrm>
          <a:prstGeom prst="line">
            <a:avLst/>
          </a:prstGeom>
          <a:ln w="19050">
            <a:solidFill>
              <a:srgbClr val="703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80460" y="3291840"/>
            <a:ext cx="82296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000" b="0" i="1">
                <a:solidFill>
                  <a:srgbClr val="7030A0"/>
                </a:solidFill>
                <a:latin typeface="Calibri"/>
              </a:rPr>
              <a:t>pᵥ(Xₖ)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75120" y="4480559"/>
            <a:ext cx="3200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89720" y="4480559"/>
            <a:ext cx="3200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77440" y="3451860"/>
            <a:ext cx="18288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560320" y="1394460"/>
            <a:ext cx="0" cy="205740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0320" y="1394460"/>
            <a:ext cx="5029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561320" y="4983479"/>
            <a:ext cx="0" cy="594361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2926080" y="5577840"/>
            <a:ext cx="763524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926080" y="1668780"/>
            <a:ext cx="0" cy="390906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26080" y="1668780"/>
            <a:ext cx="13716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0" y="5376672"/>
            <a:ext cx="41148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000" b="0" i="1">
                <a:solidFill>
                  <a:srgbClr val="1F3864"/>
                </a:solidFill>
                <a:latin typeface="Calibri"/>
              </a:rPr>
              <a:t>Xₖ₊₁ → next outer iteration (k ← k + 1)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5074920"/>
            <a:ext cx="2103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900" b="0" i="1">
                <a:solidFill>
                  <a:srgbClr val="1F3864"/>
                </a:solidFill>
                <a:latin typeface="Calibri"/>
              </a:rPr>
              <a:t>n ≥ 1: several MBIR iterations</a:t>
            </a:r>
          </a:p>
          <a:p>
            <a:pPr algn="ctr"/>
            <a:r>
              <a:rPr sz="900" b="0" i="1">
                <a:solidFill>
                  <a:srgbClr val="1F3864"/>
                </a:solidFill>
                <a:latin typeface="Calibri"/>
              </a:rPr>
              <a:t>per scatter update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630936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3864"/>
                </a:solidFill>
                <a:latin typeface="Calibri"/>
              </a:rPr>
              <a:t>Scatter-corrected reconstruction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612880" y="4480559"/>
            <a:ext cx="13716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750040" y="4480559"/>
            <a:ext cx="0" cy="2057401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12880" y="6537960"/>
            <a:ext cx="13716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5760" y="6309360"/>
            <a:ext cx="877824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  <a:latin typeface="Calibri"/>
              </a:rPr>
              <a:t>With X held fixed, N outer iterations reproduce N source iterations of the transport solver: the scatter estimate converges together with the reconstruction,</a:t>
            </a:r>
          </a:p>
          <a:p>
            <a:pPr algn="l"/>
            <a:r>
              <a:rPr sz="900" b="0" i="1">
                <a:solidFill>
                  <a:srgbClr val="404040"/>
                </a:solidFill>
                <a:latin typeface="Calibri"/>
              </a:rPr>
              <a:t>for the cost of one sweep per view per outer iteration instead of a converged scatter solve for every new volume.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