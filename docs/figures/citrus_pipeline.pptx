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sldSz cx="16002000" cy="50292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584" userDrawn="1">
          <p15:clr>
            <a:srgbClr val="A4A3A4"/>
          </p15:clr>
        </p15:guide>
        <p15:guide id="2" pos="37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548235"/>
    <a:srgbClr val="C55A11"/>
    <a:srgbClr val="BF9000"/>
    <a:srgbClr val="2F5597"/>
    <a:srgbClr val="7030A0"/>
    <a:srgbClr val="595959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 snapToObjects="1">
      <p:cViewPr>
        <p:scale>
          <a:sx n="110" d="100"/>
          <a:sy n="110" d="100"/>
        </p:scale>
        <p:origin x="822" y="456"/>
      </p:cViewPr>
      <p:guideLst>
        <p:guide orient="horz" pos="1584"/>
        <p:guide pos="37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ableStyles" Target="tableStyles.xml"/><Relationship Id="rId5" Type="http://schemas.openxmlformats.org/officeDocument/2006/relationships/theme" Target="theme/theme1.xml"/><Relationship Id="rId4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900114" y="1562312"/>
            <a:ext cx="10201275" cy="1078018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800225" y="2849880"/>
            <a:ext cx="8401050" cy="128524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38449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76896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15345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53794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692242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3069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369137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07586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48037" y="3231732"/>
            <a:ext cx="10201275" cy="998855"/>
          </a:xfrm>
        </p:spPr>
        <p:txBody>
          <a:bodyPr anchor="t"/>
          <a:lstStyle>
            <a:lvl1pPr algn="l">
              <a:defRPr sz="296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948037" y="2131595"/>
            <a:ext cx="10201275" cy="1100137"/>
          </a:xfrm>
        </p:spPr>
        <p:txBody>
          <a:bodyPr anchor="b"/>
          <a:lstStyle>
            <a:lvl1pPr marL="0" indent="0">
              <a:buNone/>
              <a:defRPr sz="1481">
                <a:solidFill>
                  <a:schemeClr val="tx1">
                    <a:tint val="75000"/>
                  </a:schemeClr>
                </a:solidFill>
              </a:defRPr>
            </a:lvl1pPr>
            <a:lvl2pPr marL="338449" indent="0">
              <a:buNone/>
              <a:defRPr sz="1333">
                <a:solidFill>
                  <a:schemeClr val="tx1">
                    <a:tint val="75000"/>
                  </a:schemeClr>
                </a:solidFill>
              </a:defRPr>
            </a:lvl2pPr>
            <a:lvl3pPr marL="676896" indent="0">
              <a:buNone/>
              <a:defRPr sz="1184">
                <a:solidFill>
                  <a:schemeClr val="tx1">
                    <a:tint val="75000"/>
                  </a:schemeClr>
                </a:solidFill>
              </a:defRPr>
            </a:lvl3pPr>
            <a:lvl4pPr marL="1015345" indent="0">
              <a:buNone/>
              <a:defRPr sz="1037">
                <a:solidFill>
                  <a:schemeClr val="tx1">
                    <a:tint val="75000"/>
                  </a:schemeClr>
                </a:solidFill>
              </a:defRPr>
            </a:lvl4pPr>
            <a:lvl5pPr marL="1353794" indent="0">
              <a:buNone/>
              <a:defRPr sz="1037">
                <a:solidFill>
                  <a:schemeClr val="tx1">
                    <a:tint val="75000"/>
                  </a:schemeClr>
                </a:solidFill>
              </a:defRPr>
            </a:lvl5pPr>
            <a:lvl6pPr marL="1692242" indent="0">
              <a:buNone/>
              <a:defRPr sz="1037">
                <a:solidFill>
                  <a:schemeClr val="tx1">
                    <a:tint val="75000"/>
                  </a:schemeClr>
                </a:solidFill>
              </a:defRPr>
            </a:lvl6pPr>
            <a:lvl7pPr marL="2030690" indent="0">
              <a:buNone/>
              <a:defRPr sz="1037">
                <a:solidFill>
                  <a:schemeClr val="tx1">
                    <a:tint val="75000"/>
                  </a:schemeClr>
                </a:solidFill>
              </a:defRPr>
            </a:lvl7pPr>
            <a:lvl8pPr marL="2369137" indent="0">
              <a:buNone/>
              <a:defRPr sz="1037">
                <a:solidFill>
                  <a:schemeClr val="tx1">
                    <a:tint val="75000"/>
                  </a:schemeClr>
                </a:solidFill>
              </a:defRPr>
            </a:lvl8pPr>
            <a:lvl9pPr marL="2707586" indent="0">
              <a:buNone/>
              <a:defRPr sz="1037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00076" y="1173480"/>
            <a:ext cx="5300663" cy="3319040"/>
          </a:xfrm>
        </p:spPr>
        <p:txBody>
          <a:bodyPr/>
          <a:lstStyle>
            <a:lvl1pPr>
              <a:defRPr sz="2073"/>
            </a:lvl1pPr>
            <a:lvl2pPr>
              <a:defRPr sz="1777"/>
            </a:lvl2pPr>
            <a:lvl3pPr>
              <a:defRPr sz="1481"/>
            </a:lvl3pPr>
            <a:lvl4pPr>
              <a:defRPr sz="1333"/>
            </a:lvl4pPr>
            <a:lvl5pPr>
              <a:defRPr sz="1333"/>
            </a:lvl5pPr>
            <a:lvl6pPr>
              <a:defRPr sz="1333"/>
            </a:lvl6pPr>
            <a:lvl7pPr>
              <a:defRPr sz="1333"/>
            </a:lvl7pPr>
            <a:lvl8pPr>
              <a:defRPr sz="1333"/>
            </a:lvl8pPr>
            <a:lvl9pPr>
              <a:defRPr sz="1333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00762" y="1173480"/>
            <a:ext cx="5300663" cy="3319040"/>
          </a:xfrm>
        </p:spPr>
        <p:txBody>
          <a:bodyPr/>
          <a:lstStyle>
            <a:lvl1pPr>
              <a:defRPr sz="2073"/>
            </a:lvl1pPr>
            <a:lvl2pPr>
              <a:defRPr sz="1777"/>
            </a:lvl2pPr>
            <a:lvl3pPr>
              <a:defRPr sz="1481"/>
            </a:lvl3pPr>
            <a:lvl4pPr>
              <a:defRPr sz="1333"/>
            </a:lvl4pPr>
            <a:lvl5pPr>
              <a:defRPr sz="1333"/>
            </a:lvl5pPr>
            <a:lvl6pPr>
              <a:defRPr sz="1333"/>
            </a:lvl6pPr>
            <a:lvl7pPr>
              <a:defRPr sz="1333"/>
            </a:lvl7pPr>
            <a:lvl8pPr>
              <a:defRPr sz="1333"/>
            </a:lvl8pPr>
            <a:lvl9pPr>
              <a:defRPr sz="1333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10/17/2026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0075" y="1125752"/>
            <a:ext cx="5302746" cy="469159"/>
          </a:xfrm>
        </p:spPr>
        <p:txBody>
          <a:bodyPr anchor="b"/>
          <a:lstStyle>
            <a:lvl1pPr marL="0" indent="0">
              <a:buNone/>
              <a:defRPr sz="1777" b="1"/>
            </a:lvl1pPr>
            <a:lvl2pPr marL="338449" indent="0">
              <a:buNone/>
              <a:defRPr sz="1481" b="1"/>
            </a:lvl2pPr>
            <a:lvl3pPr marL="676896" indent="0">
              <a:buNone/>
              <a:defRPr sz="1333" b="1"/>
            </a:lvl3pPr>
            <a:lvl4pPr marL="1015345" indent="0">
              <a:buNone/>
              <a:defRPr sz="1184" b="1"/>
            </a:lvl4pPr>
            <a:lvl5pPr marL="1353794" indent="0">
              <a:buNone/>
              <a:defRPr sz="1184" b="1"/>
            </a:lvl5pPr>
            <a:lvl6pPr marL="1692242" indent="0">
              <a:buNone/>
              <a:defRPr sz="1184" b="1"/>
            </a:lvl6pPr>
            <a:lvl7pPr marL="2030690" indent="0">
              <a:buNone/>
              <a:defRPr sz="1184" b="1"/>
            </a:lvl7pPr>
            <a:lvl8pPr marL="2369137" indent="0">
              <a:buNone/>
              <a:defRPr sz="1184" b="1"/>
            </a:lvl8pPr>
            <a:lvl9pPr marL="2707586" indent="0">
              <a:buNone/>
              <a:defRPr sz="1184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00075" y="1594911"/>
            <a:ext cx="5302746" cy="2897611"/>
          </a:xfrm>
        </p:spPr>
        <p:txBody>
          <a:bodyPr/>
          <a:lstStyle>
            <a:lvl1pPr>
              <a:defRPr sz="1777"/>
            </a:lvl1pPr>
            <a:lvl2pPr>
              <a:defRPr sz="1481"/>
            </a:lvl2pPr>
            <a:lvl3pPr>
              <a:defRPr sz="1333"/>
            </a:lvl3pPr>
            <a:lvl4pPr>
              <a:defRPr sz="1184"/>
            </a:lvl4pPr>
            <a:lvl5pPr>
              <a:defRPr sz="1184"/>
            </a:lvl5pPr>
            <a:lvl6pPr>
              <a:defRPr sz="1184"/>
            </a:lvl6pPr>
            <a:lvl7pPr>
              <a:defRPr sz="1184"/>
            </a:lvl7pPr>
            <a:lvl8pPr>
              <a:defRPr sz="1184"/>
            </a:lvl8pPr>
            <a:lvl9pPr>
              <a:defRPr sz="1184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096597" y="1125752"/>
            <a:ext cx="5304830" cy="469159"/>
          </a:xfrm>
        </p:spPr>
        <p:txBody>
          <a:bodyPr anchor="b"/>
          <a:lstStyle>
            <a:lvl1pPr marL="0" indent="0">
              <a:buNone/>
              <a:defRPr sz="1777" b="1"/>
            </a:lvl1pPr>
            <a:lvl2pPr marL="338449" indent="0">
              <a:buNone/>
              <a:defRPr sz="1481" b="1"/>
            </a:lvl2pPr>
            <a:lvl3pPr marL="676896" indent="0">
              <a:buNone/>
              <a:defRPr sz="1333" b="1"/>
            </a:lvl3pPr>
            <a:lvl4pPr marL="1015345" indent="0">
              <a:buNone/>
              <a:defRPr sz="1184" b="1"/>
            </a:lvl4pPr>
            <a:lvl5pPr marL="1353794" indent="0">
              <a:buNone/>
              <a:defRPr sz="1184" b="1"/>
            </a:lvl5pPr>
            <a:lvl6pPr marL="1692242" indent="0">
              <a:buNone/>
              <a:defRPr sz="1184" b="1"/>
            </a:lvl6pPr>
            <a:lvl7pPr marL="2030690" indent="0">
              <a:buNone/>
              <a:defRPr sz="1184" b="1"/>
            </a:lvl7pPr>
            <a:lvl8pPr marL="2369137" indent="0">
              <a:buNone/>
              <a:defRPr sz="1184" b="1"/>
            </a:lvl8pPr>
            <a:lvl9pPr marL="2707586" indent="0">
              <a:buNone/>
              <a:defRPr sz="1184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096597" y="1594911"/>
            <a:ext cx="5304830" cy="2897611"/>
          </a:xfrm>
        </p:spPr>
        <p:txBody>
          <a:bodyPr/>
          <a:lstStyle>
            <a:lvl1pPr>
              <a:defRPr sz="1777"/>
            </a:lvl1pPr>
            <a:lvl2pPr>
              <a:defRPr sz="1481"/>
            </a:lvl2pPr>
            <a:lvl3pPr>
              <a:defRPr sz="1333"/>
            </a:lvl3pPr>
            <a:lvl4pPr>
              <a:defRPr sz="1184"/>
            </a:lvl4pPr>
            <a:lvl5pPr>
              <a:defRPr sz="1184"/>
            </a:lvl5pPr>
            <a:lvl6pPr>
              <a:defRPr sz="1184"/>
            </a:lvl6pPr>
            <a:lvl7pPr>
              <a:defRPr sz="1184"/>
            </a:lvl7pPr>
            <a:lvl8pPr>
              <a:defRPr sz="1184"/>
            </a:lvl8pPr>
            <a:lvl9pPr>
              <a:defRPr sz="1184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10/17/2026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10/17/2026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10/17/2026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00080" y="200237"/>
            <a:ext cx="3948411" cy="852170"/>
          </a:xfrm>
        </p:spPr>
        <p:txBody>
          <a:bodyPr anchor="b"/>
          <a:lstStyle>
            <a:lvl1pPr algn="l">
              <a:defRPr sz="1481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692255" y="200242"/>
            <a:ext cx="6709172" cy="4292283"/>
          </a:xfrm>
        </p:spPr>
        <p:txBody>
          <a:bodyPr/>
          <a:lstStyle>
            <a:lvl1pPr>
              <a:defRPr sz="2370"/>
            </a:lvl1pPr>
            <a:lvl2pPr>
              <a:defRPr sz="2073"/>
            </a:lvl2pPr>
            <a:lvl3pPr>
              <a:defRPr sz="1777"/>
            </a:lvl3pPr>
            <a:lvl4pPr>
              <a:defRPr sz="1481"/>
            </a:lvl4pPr>
            <a:lvl5pPr>
              <a:defRPr sz="1481"/>
            </a:lvl5pPr>
            <a:lvl6pPr>
              <a:defRPr sz="1481"/>
            </a:lvl6pPr>
            <a:lvl7pPr>
              <a:defRPr sz="1481"/>
            </a:lvl7pPr>
            <a:lvl8pPr>
              <a:defRPr sz="1481"/>
            </a:lvl8pPr>
            <a:lvl9pPr>
              <a:defRPr sz="1481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00080" y="1052412"/>
            <a:ext cx="3948411" cy="3440113"/>
          </a:xfrm>
        </p:spPr>
        <p:txBody>
          <a:bodyPr/>
          <a:lstStyle>
            <a:lvl1pPr marL="0" indent="0">
              <a:buNone/>
              <a:defRPr sz="1037"/>
            </a:lvl1pPr>
            <a:lvl2pPr marL="338449" indent="0">
              <a:buNone/>
              <a:defRPr sz="888"/>
            </a:lvl2pPr>
            <a:lvl3pPr marL="676896" indent="0">
              <a:buNone/>
              <a:defRPr sz="740"/>
            </a:lvl3pPr>
            <a:lvl4pPr marL="1015345" indent="0">
              <a:buNone/>
              <a:defRPr sz="666"/>
            </a:lvl4pPr>
            <a:lvl5pPr marL="1353794" indent="0">
              <a:buNone/>
              <a:defRPr sz="666"/>
            </a:lvl5pPr>
            <a:lvl6pPr marL="1692242" indent="0">
              <a:buNone/>
              <a:defRPr sz="666"/>
            </a:lvl6pPr>
            <a:lvl7pPr marL="2030690" indent="0">
              <a:buNone/>
              <a:defRPr sz="666"/>
            </a:lvl7pPr>
            <a:lvl8pPr marL="2369137" indent="0">
              <a:buNone/>
              <a:defRPr sz="666"/>
            </a:lvl8pPr>
            <a:lvl9pPr marL="2707586" indent="0">
              <a:buNone/>
              <a:defRPr sz="666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10/17/2026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352378" y="3520440"/>
            <a:ext cx="7200900" cy="415608"/>
          </a:xfrm>
        </p:spPr>
        <p:txBody>
          <a:bodyPr anchor="b"/>
          <a:lstStyle>
            <a:lvl1pPr algn="l">
              <a:defRPr sz="1481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2352378" y="449368"/>
            <a:ext cx="7200900" cy="3017520"/>
          </a:xfrm>
        </p:spPr>
        <p:txBody>
          <a:bodyPr/>
          <a:lstStyle>
            <a:lvl1pPr marL="0" indent="0">
              <a:buNone/>
              <a:defRPr sz="2370"/>
            </a:lvl1pPr>
            <a:lvl2pPr marL="338449" indent="0">
              <a:buNone/>
              <a:defRPr sz="2073"/>
            </a:lvl2pPr>
            <a:lvl3pPr marL="676896" indent="0">
              <a:buNone/>
              <a:defRPr sz="1777"/>
            </a:lvl3pPr>
            <a:lvl4pPr marL="1015345" indent="0">
              <a:buNone/>
              <a:defRPr sz="1481"/>
            </a:lvl4pPr>
            <a:lvl5pPr marL="1353794" indent="0">
              <a:buNone/>
              <a:defRPr sz="1481"/>
            </a:lvl5pPr>
            <a:lvl6pPr marL="1692242" indent="0">
              <a:buNone/>
              <a:defRPr sz="1481"/>
            </a:lvl6pPr>
            <a:lvl7pPr marL="2030690" indent="0">
              <a:buNone/>
              <a:defRPr sz="1481"/>
            </a:lvl7pPr>
            <a:lvl8pPr marL="2369137" indent="0">
              <a:buNone/>
              <a:defRPr sz="1481"/>
            </a:lvl8pPr>
            <a:lvl9pPr marL="2707586" indent="0">
              <a:buNone/>
              <a:defRPr sz="1481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352378" y="3936048"/>
            <a:ext cx="7200900" cy="590232"/>
          </a:xfrm>
        </p:spPr>
        <p:txBody>
          <a:bodyPr/>
          <a:lstStyle>
            <a:lvl1pPr marL="0" indent="0">
              <a:buNone/>
              <a:defRPr sz="1037"/>
            </a:lvl1pPr>
            <a:lvl2pPr marL="338449" indent="0">
              <a:buNone/>
              <a:defRPr sz="888"/>
            </a:lvl2pPr>
            <a:lvl3pPr marL="676896" indent="0">
              <a:buNone/>
              <a:defRPr sz="740"/>
            </a:lvl3pPr>
            <a:lvl4pPr marL="1015345" indent="0">
              <a:buNone/>
              <a:defRPr sz="666"/>
            </a:lvl4pPr>
            <a:lvl5pPr marL="1353794" indent="0">
              <a:buNone/>
              <a:defRPr sz="666"/>
            </a:lvl5pPr>
            <a:lvl6pPr marL="1692242" indent="0">
              <a:buNone/>
              <a:defRPr sz="666"/>
            </a:lvl6pPr>
            <a:lvl7pPr marL="2030690" indent="0">
              <a:buNone/>
              <a:defRPr sz="666"/>
            </a:lvl7pPr>
            <a:lvl8pPr marL="2369137" indent="0">
              <a:buNone/>
              <a:defRPr sz="666"/>
            </a:lvl8pPr>
            <a:lvl9pPr marL="2707586" indent="0">
              <a:buNone/>
              <a:defRPr sz="666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10/17/2026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01087" y="201402"/>
            <a:ext cx="2700338" cy="429111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00075" y="201402"/>
            <a:ext cx="7900988" cy="429111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00075" y="201401"/>
            <a:ext cx="10801350" cy="8382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0075" y="1173480"/>
            <a:ext cx="10801350" cy="331904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00075" y="4661325"/>
            <a:ext cx="2800350" cy="26775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888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10/17/2026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100514" y="4661325"/>
            <a:ext cx="3800475" cy="26775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888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601075" y="4661325"/>
            <a:ext cx="2800350" cy="26775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888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38449" rtl="0" eaLnBrk="1" latinLnBrk="0" hangingPunct="1">
        <a:spcBef>
          <a:spcPct val="0"/>
        </a:spcBef>
        <a:buNone/>
        <a:defRPr sz="3258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53837" indent="-253837" algn="l" defTabSz="338449" rtl="0" eaLnBrk="1" latinLnBrk="0" hangingPunct="1">
        <a:spcBef>
          <a:spcPct val="20000"/>
        </a:spcBef>
        <a:buFont typeface="Arial"/>
        <a:buChar char="•"/>
        <a:defRPr sz="2370" kern="1200">
          <a:solidFill>
            <a:schemeClr val="tx1"/>
          </a:solidFill>
          <a:latin typeface="+mn-lt"/>
          <a:ea typeface="+mn-ea"/>
          <a:cs typeface="+mn-cs"/>
        </a:defRPr>
      </a:lvl1pPr>
      <a:lvl2pPr marL="549979" indent="-211529" algn="l" defTabSz="338449" rtl="0" eaLnBrk="1" latinLnBrk="0" hangingPunct="1">
        <a:spcBef>
          <a:spcPct val="20000"/>
        </a:spcBef>
        <a:buFont typeface="Arial"/>
        <a:buChar char="–"/>
        <a:defRPr sz="2073" kern="1200">
          <a:solidFill>
            <a:schemeClr val="tx1"/>
          </a:solidFill>
          <a:latin typeface="+mn-lt"/>
          <a:ea typeface="+mn-ea"/>
          <a:cs typeface="+mn-cs"/>
        </a:defRPr>
      </a:lvl2pPr>
      <a:lvl3pPr marL="846120" indent="-169224" algn="l" defTabSz="338449" rtl="0" eaLnBrk="1" latinLnBrk="0" hangingPunct="1">
        <a:spcBef>
          <a:spcPct val="20000"/>
        </a:spcBef>
        <a:buFont typeface="Arial"/>
        <a:buChar char="•"/>
        <a:defRPr sz="1777" kern="1200">
          <a:solidFill>
            <a:schemeClr val="tx1"/>
          </a:solidFill>
          <a:latin typeface="+mn-lt"/>
          <a:ea typeface="+mn-ea"/>
          <a:cs typeface="+mn-cs"/>
        </a:defRPr>
      </a:lvl3pPr>
      <a:lvl4pPr marL="1184570" indent="-169224" algn="l" defTabSz="338449" rtl="0" eaLnBrk="1" latinLnBrk="0" hangingPunct="1">
        <a:spcBef>
          <a:spcPct val="20000"/>
        </a:spcBef>
        <a:buFont typeface="Arial"/>
        <a:buChar char="–"/>
        <a:defRPr sz="1481" kern="1200">
          <a:solidFill>
            <a:schemeClr val="tx1"/>
          </a:solidFill>
          <a:latin typeface="+mn-lt"/>
          <a:ea typeface="+mn-ea"/>
          <a:cs typeface="+mn-cs"/>
        </a:defRPr>
      </a:lvl4pPr>
      <a:lvl5pPr marL="1523017" indent="-169224" algn="l" defTabSz="338449" rtl="0" eaLnBrk="1" latinLnBrk="0" hangingPunct="1">
        <a:spcBef>
          <a:spcPct val="20000"/>
        </a:spcBef>
        <a:buFont typeface="Arial"/>
        <a:buChar char="»"/>
        <a:defRPr sz="1481" kern="1200">
          <a:solidFill>
            <a:schemeClr val="tx1"/>
          </a:solidFill>
          <a:latin typeface="+mn-lt"/>
          <a:ea typeface="+mn-ea"/>
          <a:cs typeface="+mn-cs"/>
        </a:defRPr>
      </a:lvl5pPr>
      <a:lvl6pPr marL="1861465" indent="-169224" algn="l" defTabSz="338449" rtl="0" eaLnBrk="1" latinLnBrk="0" hangingPunct="1">
        <a:spcBef>
          <a:spcPct val="20000"/>
        </a:spcBef>
        <a:buFont typeface="Arial"/>
        <a:buChar char="•"/>
        <a:defRPr sz="1481" kern="1200">
          <a:solidFill>
            <a:schemeClr val="tx1"/>
          </a:solidFill>
          <a:latin typeface="+mn-lt"/>
          <a:ea typeface="+mn-ea"/>
          <a:cs typeface="+mn-cs"/>
        </a:defRPr>
      </a:lvl6pPr>
      <a:lvl7pPr marL="2199914" indent="-169224" algn="l" defTabSz="338449" rtl="0" eaLnBrk="1" latinLnBrk="0" hangingPunct="1">
        <a:spcBef>
          <a:spcPct val="20000"/>
        </a:spcBef>
        <a:buFont typeface="Arial"/>
        <a:buChar char="•"/>
        <a:defRPr sz="1481" kern="1200">
          <a:solidFill>
            <a:schemeClr val="tx1"/>
          </a:solidFill>
          <a:latin typeface="+mn-lt"/>
          <a:ea typeface="+mn-ea"/>
          <a:cs typeface="+mn-cs"/>
        </a:defRPr>
      </a:lvl7pPr>
      <a:lvl8pPr marL="2538362" indent="-169224" algn="l" defTabSz="338449" rtl="0" eaLnBrk="1" latinLnBrk="0" hangingPunct="1">
        <a:spcBef>
          <a:spcPct val="20000"/>
        </a:spcBef>
        <a:buFont typeface="Arial"/>
        <a:buChar char="•"/>
        <a:defRPr sz="1481" kern="1200">
          <a:solidFill>
            <a:schemeClr val="tx1"/>
          </a:solidFill>
          <a:latin typeface="+mn-lt"/>
          <a:ea typeface="+mn-ea"/>
          <a:cs typeface="+mn-cs"/>
        </a:defRPr>
      </a:lvl8pPr>
      <a:lvl9pPr marL="2876812" indent="-169224" algn="l" defTabSz="338449" rtl="0" eaLnBrk="1" latinLnBrk="0" hangingPunct="1">
        <a:spcBef>
          <a:spcPct val="20000"/>
        </a:spcBef>
        <a:buFont typeface="Arial"/>
        <a:buChar char="•"/>
        <a:defRPr sz="1481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338449" rtl="0" eaLnBrk="1" latinLnBrk="0" hangingPunct="1">
        <a:defRPr sz="1333" kern="1200">
          <a:solidFill>
            <a:schemeClr val="tx1"/>
          </a:solidFill>
          <a:latin typeface="+mn-lt"/>
          <a:ea typeface="+mn-ea"/>
          <a:cs typeface="+mn-cs"/>
        </a:defRPr>
      </a:lvl1pPr>
      <a:lvl2pPr marL="338449" algn="l" defTabSz="338449" rtl="0" eaLnBrk="1" latinLnBrk="0" hangingPunct="1">
        <a:defRPr sz="1333" kern="1200">
          <a:solidFill>
            <a:schemeClr val="tx1"/>
          </a:solidFill>
          <a:latin typeface="+mn-lt"/>
          <a:ea typeface="+mn-ea"/>
          <a:cs typeface="+mn-cs"/>
        </a:defRPr>
      </a:lvl2pPr>
      <a:lvl3pPr marL="676896" algn="l" defTabSz="338449" rtl="0" eaLnBrk="1" latinLnBrk="0" hangingPunct="1">
        <a:defRPr sz="1333" kern="1200">
          <a:solidFill>
            <a:schemeClr val="tx1"/>
          </a:solidFill>
          <a:latin typeface="+mn-lt"/>
          <a:ea typeface="+mn-ea"/>
          <a:cs typeface="+mn-cs"/>
        </a:defRPr>
      </a:lvl3pPr>
      <a:lvl4pPr marL="1015345" algn="l" defTabSz="338449" rtl="0" eaLnBrk="1" latinLnBrk="0" hangingPunct="1">
        <a:defRPr sz="1333" kern="1200">
          <a:solidFill>
            <a:schemeClr val="tx1"/>
          </a:solidFill>
          <a:latin typeface="+mn-lt"/>
          <a:ea typeface="+mn-ea"/>
          <a:cs typeface="+mn-cs"/>
        </a:defRPr>
      </a:lvl4pPr>
      <a:lvl5pPr marL="1353794" algn="l" defTabSz="338449" rtl="0" eaLnBrk="1" latinLnBrk="0" hangingPunct="1">
        <a:defRPr sz="1333" kern="1200">
          <a:solidFill>
            <a:schemeClr val="tx1"/>
          </a:solidFill>
          <a:latin typeface="+mn-lt"/>
          <a:ea typeface="+mn-ea"/>
          <a:cs typeface="+mn-cs"/>
        </a:defRPr>
      </a:lvl5pPr>
      <a:lvl6pPr marL="1692242" algn="l" defTabSz="338449" rtl="0" eaLnBrk="1" latinLnBrk="0" hangingPunct="1">
        <a:defRPr sz="1333" kern="1200">
          <a:solidFill>
            <a:schemeClr val="tx1"/>
          </a:solidFill>
          <a:latin typeface="+mn-lt"/>
          <a:ea typeface="+mn-ea"/>
          <a:cs typeface="+mn-cs"/>
        </a:defRPr>
      </a:lvl6pPr>
      <a:lvl7pPr marL="2030690" algn="l" defTabSz="338449" rtl="0" eaLnBrk="1" latinLnBrk="0" hangingPunct="1">
        <a:defRPr sz="1333" kern="1200">
          <a:solidFill>
            <a:schemeClr val="tx1"/>
          </a:solidFill>
          <a:latin typeface="+mn-lt"/>
          <a:ea typeface="+mn-ea"/>
          <a:cs typeface="+mn-cs"/>
        </a:defRPr>
      </a:lvl7pPr>
      <a:lvl8pPr marL="2369137" algn="l" defTabSz="338449" rtl="0" eaLnBrk="1" latinLnBrk="0" hangingPunct="1">
        <a:defRPr sz="1333" kern="1200">
          <a:solidFill>
            <a:schemeClr val="tx1"/>
          </a:solidFill>
          <a:latin typeface="+mn-lt"/>
          <a:ea typeface="+mn-ea"/>
          <a:cs typeface="+mn-cs"/>
        </a:defRPr>
      </a:lvl8pPr>
      <a:lvl9pPr marL="2707586" algn="l" defTabSz="338449" rtl="0" eaLnBrk="1" latinLnBrk="0" hangingPunct="1">
        <a:defRPr sz="1333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ounded Rectangle 1">
            <a:extLst>
              <a:ext uri="{FF2B5EF4-FFF2-40B4-BE49-F238E27FC236}">
                <a16:creationId xmlns:a16="http://schemas.microsoft.com/office/drawing/2014/main" id="{7ED0B813-2DDD-A2CF-5F80-3B7DEA375B29}"/>
              </a:ext>
            </a:extLst>
          </p:cNvPr>
          <p:cNvSpPr/>
          <p:nvPr/>
        </p:nvSpPr>
        <p:spPr>
          <a:xfrm>
            <a:off x="60711" y="347894"/>
            <a:ext cx="1828800" cy="914400"/>
          </a:xfrm>
          <a:prstGeom prst="roundRect">
            <a:avLst>
              <a:gd name="adj" fmla="val 12000"/>
            </a:avLst>
          </a:prstGeom>
          <a:solidFill>
            <a:srgbClr val="DEEAF6"/>
          </a:solidFill>
          <a:ln w="15875">
            <a:solidFill>
              <a:srgbClr val="2F559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5" tIns="27432" rIns="54865" bIns="27432" rtlCol="0" anchor="ctr"/>
          <a:lstStyle/>
          <a:p>
            <a:pPr algn="ctr"/>
            <a:r>
              <a:rPr sz="1200" b="1" dirty="0">
                <a:solidFill>
                  <a:srgbClr val="1F3864"/>
                </a:solidFill>
                <a:latin typeface="Calibri"/>
              </a:rPr>
              <a:t>Measured </a:t>
            </a:r>
            <a:r>
              <a:rPr lang="en-US" sz="1200" b="1" dirty="0">
                <a:solidFill>
                  <a:srgbClr val="1F3864"/>
                </a:solidFill>
                <a:latin typeface="Calibri"/>
              </a:rPr>
              <a:t>data</a:t>
            </a:r>
            <a:r>
              <a:rPr sz="1200" b="1" dirty="0">
                <a:solidFill>
                  <a:srgbClr val="1F3864"/>
                </a:solidFill>
                <a:latin typeface="Calibri"/>
              </a:rPr>
              <a:t> Y</a:t>
            </a:r>
          </a:p>
        </p:txBody>
      </p:sp>
      <p:sp>
        <p:nvSpPr>
          <p:cNvPr id="3" name="Rounded Rectangle 2">
            <a:extLst>
              <a:ext uri="{FF2B5EF4-FFF2-40B4-BE49-F238E27FC236}">
                <a16:creationId xmlns:a16="http://schemas.microsoft.com/office/drawing/2014/main" id="{63D0A335-8CB1-81F3-D9FE-F7FA714054D0}"/>
              </a:ext>
            </a:extLst>
          </p:cNvPr>
          <p:cNvSpPr/>
          <p:nvPr/>
        </p:nvSpPr>
        <p:spPr>
          <a:xfrm>
            <a:off x="2256926" y="350391"/>
            <a:ext cx="2057400" cy="914400"/>
          </a:xfrm>
          <a:prstGeom prst="roundRect">
            <a:avLst>
              <a:gd name="adj" fmla="val 12000"/>
            </a:avLst>
          </a:prstGeom>
          <a:solidFill>
            <a:srgbClr val="DEEAF6"/>
          </a:solidFill>
          <a:ln w="15875">
            <a:solidFill>
              <a:srgbClr val="2F559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5" tIns="27432" rIns="54865" bIns="27432" rtlCol="0" anchor="ctr"/>
          <a:lstStyle/>
          <a:p>
            <a:pPr algn="ctr"/>
            <a:r>
              <a:rPr sz="1200" b="1" dirty="0">
                <a:solidFill>
                  <a:srgbClr val="1F3864"/>
                </a:solidFill>
                <a:latin typeface="Calibri"/>
              </a:rPr>
              <a:t>Initial reconstruction X₀</a:t>
            </a:r>
          </a:p>
          <a:p>
            <a:pPr algn="ctr"/>
            <a:r>
              <a:rPr sz="1100" dirty="0">
                <a:solidFill>
                  <a:srgbClr val="1F3864"/>
                </a:solidFill>
                <a:latin typeface="Calibri"/>
              </a:rPr>
              <a:t>FDK</a:t>
            </a:r>
          </a:p>
        </p:txBody>
      </p:sp>
      <p:cxnSp>
        <p:nvCxnSpPr>
          <p:cNvPr id="4" name="Connector 3">
            <a:extLst>
              <a:ext uri="{FF2B5EF4-FFF2-40B4-BE49-F238E27FC236}">
                <a16:creationId xmlns:a16="http://schemas.microsoft.com/office/drawing/2014/main" id="{3979C167-4356-4B0D-E519-3543D0732354}"/>
              </a:ext>
            </a:extLst>
          </p:cNvPr>
          <p:cNvCxnSpPr>
            <a:cxnSpLocks/>
            <a:stCxn id="2" idx="3"/>
            <a:endCxn id="3" idx="1"/>
          </p:cNvCxnSpPr>
          <p:nvPr/>
        </p:nvCxnSpPr>
        <p:spPr>
          <a:xfrm>
            <a:off x="1889512" y="805096"/>
            <a:ext cx="367415" cy="2497"/>
          </a:xfrm>
          <a:prstGeom prst="line">
            <a:avLst/>
          </a:prstGeom>
          <a:ln w="19050">
            <a:solidFill>
              <a:srgbClr val="2F5597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Rounded Rectangle 4">
            <a:extLst>
              <a:ext uri="{FF2B5EF4-FFF2-40B4-BE49-F238E27FC236}">
                <a16:creationId xmlns:a16="http://schemas.microsoft.com/office/drawing/2014/main" id="{22A5A8EE-7142-3E24-A565-37D8621696DB}"/>
              </a:ext>
            </a:extLst>
          </p:cNvPr>
          <p:cNvSpPr/>
          <p:nvPr/>
        </p:nvSpPr>
        <p:spPr>
          <a:xfrm>
            <a:off x="4650967" y="34284"/>
            <a:ext cx="9156421" cy="4957966"/>
          </a:xfrm>
          <a:prstGeom prst="roundRect">
            <a:avLst>
              <a:gd name="adj" fmla="val 4000"/>
            </a:avLst>
          </a:prstGeom>
          <a:noFill/>
          <a:ln w="15875">
            <a:solidFill>
              <a:srgbClr val="595959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5" tIns="27432" rIns="54865" bIns="27432" rtlCol="0" anchor="ctr"/>
          <a:lstStyle/>
          <a:p>
            <a:pPr algn="ctr"/>
            <a:endParaRPr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56155C70-B8E2-027C-4226-1C89CE065E24}"/>
              </a:ext>
            </a:extLst>
          </p:cNvPr>
          <p:cNvSpPr txBox="1"/>
          <p:nvPr/>
        </p:nvSpPr>
        <p:spPr>
          <a:xfrm>
            <a:off x="5114378" y="68153"/>
            <a:ext cx="8229600" cy="215444"/>
          </a:xfrm>
          <a:prstGeom prst="rect">
            <a:avLst/>
          </a:prstGeom>
          <a:noFill/>
        </p:spPr>
        <p:txBody>
          <a:bodyPr wrap="square" lIns="18288" tIns="0" rIns="18288" bIns="0">
            <a:spAutoFit/>
          </a:bodyPr>
          <a:lstStyle/>
          <a:p>
            <a:pPr algn="ctr"/>
            <a:r>
              <a:rPr lang="en-US" sz="1400" b="1" dirty="0">
                <a:solidFill>
                  <a:srgbClr val="404040"/>
                </a:solidFill>
                <a:latin typeface="Calibri"/>
              </a:rPr>
              <a:t>CITRUS</a:t>
            </a:r>
            <a:r>
              <a:rPr sz="1400" b="1" dirty="0">
                <a:solidFill>
                  <a:srgbClr val="404040"/>
                </a:solidFill>
                <a:latin typeface="Calibri"/>
              </a:rPr>
              <a:t> iteration k</a:t>
            </a:r>
          </a:p>
        </p:txBody>
      </p:sp>
      <p:sp>
        <p:nvSpPr>
          <p:cNvPr id="7" name="Rounded Rectangle 6">
            <a:extLst>
              <a:ext uri="{FF2B5EF4-FFF2-40B4-BE49-F238E27FC236}">
                <a16:creationId xmlns:a16="http://schemas.microsoft.com/office/drawing/2014/main" id="{511DE164-900E-74B3-C098-E6F37ADF4698}"/>
              </a:ext>
            </a:extLst>
          </p:cNvPr>
          <p:cNvSpPr/>
          <p:nvPr/>
        </p:nvSpPr>
        <p:spPr>
          <a:xfrm>
            <a:off x="5051018" y="350392"/>
            <a:ext cx="3200400" cy="914400"/>
          </a:xfrm>
          <a:prstGeom prst="roundRect">
            <a:avLst>
              <a:gd name="adj" fmla="val 12000"/>
            </a:avLst>
          </a:prstGeom>
          <a:solidFill>
            <a:srgbClr val="E2F0D9"/>
          </a:solidFill>
          <a:ln w="15875">
            <a:solidFill>
              <a:srgbClr val="54823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5" tIns="27432" rIns="54865" bIns="27432" rtlCol="0" anchor="ctr"/>
          <a:lstStyle/>
          <a:p>
            <a:pPr algn="ctr"/>
            <a:r>
              <a:rPr sz="1200" b="1" dirty="0">
                <a:solidFill>
                  <a:srgbClr val="385723"/>
                </a:solidFill>
                <a:latin typeface="Calibri"/>
              </a:rPr>
              <a:t>Material densities ρ(X</a:t>
            </a:r>
            <a:r>
              <a:rPr lang="en-US" sz="1200" b="1" baseline="-25000" dirty="0">
                <a:solidFill>
                  <a:srgbClr val="385723"/>
                </a:solidFill>
                <a:latin typeface="Calibri"/>
              </a:rPr>
              <a:t>k</a:t>
            </a:r>
            <a:r>
              <a:rPr sz="1200" b="1" dirty="0">
                <a:solidFill>
                  <a:srgbClr val="385723"/>
                </a:solidFill>
                <a:latin typeface="Calibri"/>
              </a:rPr>
              <a:t>)</a:t>
            </a:r>
          </a:p>
          <a:p>
            <a:pPr algn="ctr"/>
            <a:r>
              <a:rPr sz="1100" dirty="0">
                <a:solidFill>
                  <a:srgbClr val="385723"/>
                </a:solidFill>
                <a:latin typeface="Calibri"/>
              </a:rPr>
              <a:t>each voxel a mixture of the two </a:t>
            </a:r>
            <a:r>
              <a:rPr lang="en-US" sz="1100" dirty="0">
                <a:solidFill>
                  <a:srgbClr val="385723"/>
                </a:solidFill>
                <a:latin typeface="Calibri"/>
              </a:rPr>
              <a:t>reference</a:t>
            </a:r>
            <a:r>
              <a:rPr sz="1100" dirty="0">
                <a:solidFill>
                  <a:srgbClr val="385723"/>
                </a:solidFill>
                <a:latin typeface="Calibri"/>
              </a:rPr>
              <a:t> materials</a:t>
            </a:r>
            <a:r>
              <a:rPr lang="en-US" sz="1100" dirty="0">
                <a:solidFill>
                  <a:srgbClr val="385723"/>
                </a:solidFill>
                <a:latin typeface="Calibri"/>
              </a:rPr>
              <a:t> </a:t>
            </a:r>
            <a:r>
              <a:rPr sz="1100" dirty="0">
                <a:solidFill>
                  <a:srgbClr val="385723"/>
                </a:solidFill>
                <a:latin typeface="Calibri"/>
              </a:rPr>
              <a:t>whose attenuations bracket its value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C61BCD64-4305-B479-9B35-7D88082CF865}"/>
              </a:ext>
            </a:extLst>
          </p:cNvPr>
          <p:cNvSpPr/>
          <p:nvPr/>
        </p:nvSpPr>
        <p:spPr>
          <a:xfrm>
            <a:off x="5553939" y="1584835"/>
            <a:ext cx="7863839" cy="1735328"/>
          </a:xfrm>
          <a:prstGeom prst="rect">
            <a:avLst/>
          </a:prstGeom>
          <a:solidFill>
            <a:srgbClr val="FDF3EC"/>
          </a:solidFill>
          <a:ln w="9525">
            <a:solidFill>
              <a:srgbClr val="C55A1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5" tIns="27432" rIns="54865" bIns="27432" rtlCol="0" anchor="ctr"/>
          <a:lstStyle/>
          <a:p>
            <a:pPr algn="ctr"/>
            <a:endParaRPr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05B78C48-514F-D9E9-9614-A97411718BB8}"/>
              </a:ext>
            </a:extLst>
          </p:cNvPr>
          <p:cNvSpPr txBox="1"/>
          <p:nvPr/>
        </p:nvSpPr>
        <p:spPr>
          <a:xfrm>
            <a:off x="5553460" y="1612268"/>
            <a:ext cx="7864319" cy="215444"/>
          </a:xfrm>
          <a:prstGeom prst="rect">
            <a:avLst/>
          </a:prstGeom>
          <a:noFill/>
        </p:spPr>
        <p:txBody>
          <a:bodyPr wrap="square" lIns="18288" tIns="0" rIns="18288" bIns="0">
            <a:spAutoFit/>
          </a:bodyPr>
          <a:lstStyle/>
          <a:p>
            <a:pPr algn="ctr"/>
            <a:r>
              <a:rPr sz="1400" b="1" dirty="0">
                <a:solidFill>
                  <a:srgbClr val="843C0C"/>
                </a:solidFill>
                <a:latin typeface="Calibri"/>
              </a:rPr>
              <a:t>LBTE scatter solve</a:t>
            </a:r>
            <a:r>
              <a:rPr lang="en-US" sz="1400" b="1" dirty="0">
                <a:solidFill>
                  <a:srgbClr val="843C0C"/>
                </a:solidFill>
                <a:latin typeface="Calibri"/>
              </a:rPr>
              <a:t>r</a:t>
            </a:r>
            <a:endParaRPr sz="1400" b="1" dirty="0">
              <a:solidFill>
                <a:srgbClr val="843C0C"/>
              </a:solidFill>
              <a:latin typeface="Calibri"/>
            </a:endParaRPr>
          </a:p>
        </p:txBody>
      </p:sp>
      <p:sp>
        <p:nvSpPr>
          <p:cNvPr id="10" name="Rounded Rectangle 10">
            <a:extLst>
              <a:ext uri="{FF2B5EF4-FFF2-40B4-BE49-F238E27FC236}">
                <a16:creationId xmlns:a16="http://schemas.microsoft.com/office/drawing/2014/main" id="{7302C8C5-66D2-DCEA-6BAB-A81690E9EEF9}"/>
              </a:ext>
            </a:extLst>
          </p:cNvPr>
          <p:cNvSpPr/>
          <p:nvPr/>
        </p:nvSpPr>
        <p:spPr>
          <a:xfrm>
            <a:off x="5691095" y="1923163"/>
            <a:ext cx="2286000" cy="914400"/>
          </a:xfrm>
          <a:prstGeom prst="roundRect">
            <a:avLst>
              <a:gd name="adj" fmla="val 12000"/>
            </a:avLst>
          </a:prstGeom>
          <a:solidFill>
            <a:srgbClr val="FBE5D6"/>
          </a:solidFill>
          <a:ln w="15875">
            <a:solidFill>
              <a:srgbClr val="C55A1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5" tIns="27432" rIns="54865" bIns="27432" rtlCol="0" anchor="ctr"/>
          <a:lstStyle/>
          <a:p>
            <a:pPr algn="ctr"/>
            <a:r>
              <a:rPr lang="en-US" sz="1200" b="1" dirty="0">
                <a:solidFill>
                  <a:srgbClr val="843C0C"/>
                </a:solidFill>
                <a:latin typeface="Calibri"/>
              </a:rPr>
              <a:t>First-order scatter source </a:t>
            </a:r>
            <a:r>
              <a:rPr lang="el-GR" sz="1200" b="1" dirty="0">
                <a:solidFill>
                  <a:srgbClr val="843C0C"/>
                </a:solidFill>
              </a:rPr>
              <a:t>φ</a:t>
            </a:r>
            <a:r>
              <a:rPr lang="en-US" sz="1200" b="1" baseline="-25000" dirty="0">
                <a:solidFill>
                  <a:srgbClr val="843C0C"/>
                </a:solidFill>
              </a:rPr>
              <a:t>1</a:t>
            </a:r>
            <a:r>
              <a:rPr lang="en-US" sz="1200" b="1" baseline="30000" dirty="0">
                <a:solidFill>
                  <a:srgbClr val="843C0C"/>
                </a:solidFill>
              </a:rPr>
              <a:t>(k)</a:t>
            </a:r>
            <a:r>
              <a:rPr lang="en-US" sz="1200" b="1" dirty="0">
                <a:solidFill>
                  <a:srgbClr val="843C0C"/>
                </a:solidFill>
                <a:latin typeface="Calibri"/>
              </a:rPr>
              <a:t> </a:t>
            </a:r>
            <a:endParaRPr sz="1200" b="1" dirty="0">
              <a:solidFill>
                <a:srgbClr val="843C0C"/>
              </a:solidFill>
              <a:latin typeface="Calibri"/>
            </a:endParaRPr>
          </a:p>
          <a:p>
            <a:pPr algn="ctr"/>
            <a:r>
              <a:rPr lang="en-US" sz="1100" dirty="0">
                <a:solidFill>
                  <a:srgbClr val="843C0C"/>
                </a:solidFill>
                <a:latin typeface="Calibri"/>
              </a:rPr>
              <a:t>computed from </a:t>
            </a:r>
            <a:r>
              <a:rPr sz="1100" dirty="0">
                <a:solidFill>
                  <a:srgbClr val="843C0C"/>
                </a:solidFill>
                <a:latin typeface="Calibri"/>
              </a:rPr>
              <a:t>the </a:t>
            </a:r>
            <a:r>
              <a:rPr lang="en-US" sz="1100" dirty="0">
                <a:solidFill>
                  <a:srgbClr val="843C0C"/>
                </a:solidFill>
                <a:latin typeface="Calibri"/>
              </a:rPr>
              <a:t>current iteration’s </a:t>
            </a:r>
            <a:r>
              <a:rPr sz="1100" dirty="0">
                <a:solidFill>
                  <a:srgbClr val="843C0C"/>
                </a:solidFill>
                <a:latin typeface="Calibri"/>
              </a:rPr>
              <a:t>densities ρ(X</a:t>
            </a:r>
            <a:r>
              <a:rPr lang="en-US" sz="1100" baseline="-25000" dirty="0">
                <a:solidFill>
                  <a:srgbClr val="843C0C"/>
                </a:solidFill>
                <a:latin typeface="Calibri"/>
              </a:rPr>
              <a:t>k</a:t>
            </a:r>
            <a:r>
              <a:rPr sz="1100" dirty="0">
                <a:solidFill>
                  <a:srgbClr val="843C0C"/>
                </a:solidFill>
                <a:latin typeface="Calibri"/>
              </a:rPr>
              <a:t>)</a:t>
            </a:r>
          </a:p>
        </p:txBody>
      </p:sp>
      <p:sp>
        <p:nvSpPr>
          <p:cNvPr id="11" name="Rounded Rectangle 12">
            <a:extLst>
              <a:ext uri="{FF2B5EF4-FFF2-40B4-BE49-F238E27FC236}">
                <a16:creationId xmlns:a16="http://schemas.microsoft.com/office/drawing/2014/main" id="{255AECA5-1A50-FDF1-34D4-2FF1C48D9EA9}"/>
              </a:ext>
            </a:extLst>
          </p:cNvPr>
          <p:cNvSpPr/>
          <p:nvPr/>
        </p:nvSpPr>
        <p:spPr>
          <a:xfrm>
            <a:off x="11224302" y="1920892"/>
            <a:ext cx="2057400" cy="914400"/>
          </a:xfrm>
          <a:prstGeom prst="roundRect">
            <a:avLst>
              <a:gd name="adj" fmla="val 12000"/>
            </a:avLst>
          </a:prstGeom>
          <a:solidFill>
            <a:srgbClr val="FBE5D6"/>
          </a:solidFill>
          <a:ln w="15875">
            <a:solidFill>
              <a:srgbClr val="C55A1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5" tIns="27432" rIns="54865" bIns="27432" rtlCol="0" anchor="ctr"/>
          <a:lstStyle/>
          <a:p>
            <a:pPr algn="ctr"/>
            <a:r>
              <a:rPr lang="en-US" sz="1200" b="1" dirty="0">
                <a:solidFill>
                  <a:srgbClr val="843C0C"/>
                </a:solidFill>
                <a:latin typeface="Calibri"/>
              </a:rPr>
              <a:t>Scatter</a:t>
            </a:r>
            <a:r>
              <a:rPr sz="1200" b="1" dirty="0">
                <a:solidFill>
                  <a:srgbClr val="843C0C"/>
                </a:solidFill>
                <a:latin typeface="Calibri"/>
              </a:rPr>
              <a:t> projection</a:t>
            </a:r>
            <a:r>
              <a:rPr lang="en-US" sz="1200" b="1" dirty="0">
                <a:solidFill>
                  <a:srgbClr val="843C0C"/>
                </a:solidFill>
                <a:latin typeface="Calibri"/>
              </a:rPr>
              <a:t> </a:t>
            </a:r>
            <a:r>
              <a:rPr lang="en-US" sz="1200" b="1" dirty="0">
                <a:solidFill>
                  <a:srgbClr val="843C0C"/>
                </a:solidFill>
              </a:rPr>
              <a:t>sᵥ</a:t>
            </a:r>
            <a:endParaRPr sz="1200" b="1" dirty="0">
              <a:solidFill>
                <a:srgbClr val="843C0C"/>
              </a:solidFill>
              <a:latin typeface="Calibri"/>
            </a:endParaRPr>
          </a:p>
          <a:p>
            <a:pPr algn="ctr"/>
            <a:r>
              <a:rPr sz="1100" dirty="0">
                <a:solidFill>
                  <a:srgbClr val="843C0C"/>
                </a:solidFill>
                <a:latin typeface="Calibri"/>
              </a:rPr>
              <a:t>of</a:t>
            </a:r>
            <a:r>
              <a:rPr lang="en-US" sz="1100" dirty="0">
                <a:solidFill>
                  <a:srgbClr val="843C0C"/>
                </a:solidFill>
                <a:latin typeface="Calibri"/>
              </a:rPr>
              <a:t> </a:t>
            </a:r>
            <a:r>
              <a:rPr lang="el-GR" sz="1100" dirty="0">
                <a:solidFill>
                  <a:srgbClr val="843C0C"/>
                </a:solidFill>
              </a:rPr>
              <a:t>φ</a:t>
            </a:r>
            <a:r>
              <a:rPr lang="en-US" sz="1100" baseline="-25000" dirty="0">
                <a:solidFill>
                  <a:srgbClr val="843C0C"/>
                </a:solidFill>
              </a:rPr>
              <a:t>1</a:t>
            </a:r>
            <a:r>
              <a:rPr lang="en-US" sz="1100" baseline="30000" dirty="0">
                <a:solidFill>
                  <a:srgbClr val="843C0C"/>
                </a:solidFill>
              </a:rPr>
              <a:t>(k)</a:t>
            </a:r>
            <a:r>
              <a:rPr lang="en-US" sz="1100" dirty="0">
                <a:solidFill>
                  <a:srgbClr val="843C0C"/>
                </a:solidFill>
              </a:rPr>
              <a:t> + </a:t>
            </a:r>
            <a:r>
              <a:rPr lang="el-GR" sz="1100" dirty="0">
                <a:solidFill>
                  <a:srgbClr val="843C0C"/>
                </a:solidFill>
              </a:rPr>
              <a:t>φ</a:t>
            </a:r>
            <a:r>
              <a:rPr lang="en-US" sz="1100" baseline="-25000" dirty="0">
                <a:solidFill>
                  <a:srgbClr val="843C0C"/>
                </a:solidFill>
              </a:rPr>
              <a:t>&gt;1</a:t>
            </a:r>
            <a:r>
              <a:rPr lang="en-US" sz="1100" baseline="30000" dirty="0">
                <a:solidFill>
                  <a:srgbClr val="843C0C"/>
                </a:solidFill>
              </a:rPr>
              <a:t>(k)</a:t>
            </a:r>
            <a:r>
              <a:rPr lang="en-US" sz="1100" dirty="0">
                <a:solidFill>
                  <a:srgbClr val="843C0C"/>
                </a:solidFill>
                <a:latin typeface="Calibri"/>
              </a:rPr>
              <a:t> </a:t>
            </a:r>
            <a:endParaRPr sz="1100" dirty="0">
              <a:solidFill>
                <a:srgbClr val="843C0C"/>
              </a:solidFill>
              <a:latin typeface="Calibri"/>
            </a:endParaRPr>
          </a:p>
        </p:txBody>
      </p:sp>
      <p:cxnSp>
        <p:nvCxnSpPr>
          <p:cNvPr id="12" name="Connector 13">
            <a:extLst>
              <a:ext uri="{FF2B5EF4-FFF2-40B4-BE49-F238E27FC236}">
                <a16:creationId xmlns:a16="http://schemas.microsoft.com/office/drawing/2014/main" id="{7C98516E-4B20-3E7C-9FC2-1F8AB829FDF7}"/>
              </a:ext>
            </a:extLst>
          </p:cNvPr>
          <p:cNvCxnSpPr>
            <a:cxnSpLocks/>
          </p:cNvCxnSpPr>
          <p:nvPr/>
        </p:nvCxnSpPr>
        <p:spPr>
          <a:xfrm flipV="1">
            <a:off x="7977097" y="2283443"/>
            <a:ext cx="365853" cy="3160"/>
          </a:xfrm>
          <a:prstGeom prst="line">
            <a:avLst/>
          </a:prstGeom>
          <a:ln w="19050">
            <a:solidFill>
              <a:srgbClr val="C55A11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4">
            <a:extLst>
              <a:ext uri="{FF2B5EF4-FFF2-40B4-BE49-F238E27FC236}">
                <a16:creationId xmlns:a16="http://schemas.microsoft.com/office/drawing/2014/main" id="{5447864F-6197-E9F3-5223-E9D0D32055FD}"/>
              </a:ext>
            </a:extLst>
          </p:cNvPr>
          <p:cNvCxnSpPr>
            <a:cxnSpLocks/>
            <a:stCxn id="14" idx="3"/>
            <a:endCxn id="11" idx="1"/>
          </p:cNvCxnSpPr>
          <p:nvPr/>
        </p:nvCxnSpPr>
        <p:spPr>
          <a:xfrm>
            <a:off x="10857548" y="2377205"/>
            <a:ext cx="366754" cy="889"/>
          </a:xfrm>
          <a:prstGeom prst="line">
            <a:avLst/>
          </a:prstGeom>
          <a:ln w="19050">
            <a:solidFill>
              <a:srgbClr val="C55A11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Rounded Rectangle 11">
            <a:extLst>
              <a:ext uri="{FF2B5EF4-FFF2-40B4-BE49-F238E27FC236}">
                <a16:creationId xmlns:a16="http://schemas.microsoft.com/office/drawing/2014/main" id="{C377D2EA-B045-C82E-5A88-A72DE7328748}"/>
              </a:ext>
            </a:extLst>
          </p:cNvPr>
          <p:cNvSpPr/>
          <p:nvPr/>
        </p:nvSpPr>
        <p:spPr>
          <a:xfrm>
            <a:off x="8342948" y="1920003"/>
            <a:ext cx="2514600" cy="914400"/>
          </a:xfrm>
          <a:prstGeom prst="roundRect">
            <a:avLst>
              <a:gd name="adj" fmla="val 12000"/>
            </a:avLst>
          </a:prstGeom>
          <a:solidFill>
            <a:srgbClr val="FBE5D6"/>
          </a:solidFill>
          <a:ln w="15875">
            <a:solidFill>
              <a:srgbClr val="C55A1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5" tIns="27432" rIns="54865" bIns="27432" rtlCol="0" anchor="ctr"/>
          <a:lstStyle/>
          <a:p>
            <a:pPr algn="ctr"/>
            <a:r>
              <a:rPr sz="1200" b="1" dirty="0">
                <a:solidFill>
                  <a:srgbClr val="843C0C"/>
                </a:solidFill>
                <a:latin typeface="Calibri"/>
              </a:rPr>
              <a:t>One </a:t>
            </a:r>
            <a:r>
              <a:rPr lang="en-US" sz="1200" b="1" dirty="0">
                <a:solidFill>
                  <a:srgbClr val="843C0C"/>
                </a:solidFill>
                <a:latin typeface="Calibri"/>
              </a:rPr>
              <a:t>scatter source iteration</a:t>
            </a:r>
            <a:endParaRPr sz="1200" b="1" dirty="0">
              <a:solidFill>
                <a:srgbClr val="843C0C"/>
              </a:solidFill>
              <a:latin typeface="Calibri"/>
            </a:endParaRPr>
          </a:p>
          <a:p>
            <a:pPr algn="ctr"/>
            <a:r>
              <a:rPr sz="1100" dirty="0">
                <a:solidFill>
                  <a:srgbClr val="843C0C"/>
                </a:solidFill>
                <a:latin typeface="Calibri"/>
              </a:rPr>
              <a:t>over φ</a:t>
            </a:r>
            <a:r>
              <a:rPr lang="en-US" sz="1100" baseline="-25000" dirty="0">
                <a:solidFill>
                  <a:srgbClr val="843C0C"/>
                </a:solidFill>
                <a:latin typeface="Calibri"/>
              </a:rPr>
              <a:t>1</a:t>
            </a:r>
            <a:r>
              <a:rPr lang="en-US" sz="1100" baseline="30000" dirty="0">
                <a:solidFill>
                  <a:srgbClr val="843C0C"/>
                </a:solidFill>
                <a:latin typeface="Calibri"/>
              </a:rPr>
              <a:t>(k)</a:t>
            </a:r>
            <a:r>
              <a:rPr sz="1100" dirty="0">
                <a:solidFill>
                  <a:srgbClr val="843C0C"/>
                </a:solidFill>
                <a:latin typeface="Calibri"/>
              </a:rPr>
              <a:t> + the </a:t>
            </a:r>
            <a:r>
              <a:rPr lang="en-US" sz="1100" dirty="0">
                <a:solidFill>
                  <a:srgbClr val="843C0C"/>
                </a:solidFill>
                <a:latin typeface="Calibri"/>
              </a:rPr>
              <a:t>prior iteration’s higher-order scatter</a:t>
            </a:r>
            <a:endParaRPr sz="1100" dirty="0">
              <a:solidFill>
                <a:srgbClr val="843C0C"/>
              </a:solidFill>
              <a:latin typeface="Calibri"/>
            </a:endParaRPr>
          </a:p>
          <a:p>
            <a:pPr algn="ctr"/>
            <a:r>
              <a:rPr lang="en-US" sz="1100" dirty="0">
                <a:solidFill>
                  <a:srgbClr val="843C0C"/>
                </a:solidFill>
              </a:rPr>
              <a:t>G</a:t>
            </a:r>
            <a:r>
              <a:rPr lang="en-US" sz="1100" baseline="-25000" dirty="0">
                <a:solidFill>
                  <a:srgbClr val="843C0C"/>
                </a:solidFill>
              </a:rPr>
              <a:t>k</a:t>
            </a:r>
            <a:r>
              <a:rPr lang="en-US" sz="1100" dirty="0">
                <a:solidFill>
                  <a:srgbClr val="843C0C"/>
                </a:solidFill>
              </a:rPr>
              <a:t>(</a:t>
            </a:r>
            <a:r>
              <a:rPr lang="el-GR" sz="1100" dirty="0">
                <a:solidFill>
                  <a:srgbClr val="843C0C"/>
                </a:solidFill>
              </a:rPr>
              <a:t>φ</a:t>
            </a:r>
            <a:r>
              <a:rPr lang="en-US" sz="1100" baseline="-25000" dirty="0">
                <a:solidFill>
                  <a:srgbClr val="843C0C"/>
                </a:solidFill>
              </a:rPr>
              <a:t>1</a:t>
            </a:r>
            <a:r>
              <a:rPr lang="en-US" sz="1100" baseline="30000" dirty="0">
                <a:solidFill>
                  <a:srgbClr val="843C0C"/>
                </a:solidFill>
              </a:rPr>
              <a:t>(k)</a:t>
            </a:r>
            <a:r>
              <a:rPr lang="en-US" sz="1100" dirty="0">
                <a:solidFill>
                  <a:srgbClr val="843C0C"/>
                </a:solidFill>
              </a:rPr>
              <a:t> + </a:t>
            </a:r>
            <a:r>
              <a:rPr lang="el-GR" sz="1100" dirty="0">
                <a:solidFill>
                  <a:srgbClr val="843C0C"/>
                </a:solidFill>
              </a:rPr>
              <a:t>φ</a:t>
            </a:r>
            <a:r>
              <a:rPr lang="en-US" sz="1100" baseline="-25000" dirty="0">
                <a:solidFill>
                  <a:srgbClr val="843C0C"/>
                </a:solidFill>
              </a:rPr>
              <a:t>&gt;1</a:t>
            </a:r>
            <a:r>
              <a:rPr lang="en-US" sz="1100" baseline="30000" dirty="0">
                <a:solidFill>
                  <a:srgbClr val="843C0C"/>
                </a:solidFill>
              </a:rPr>
              <a:t>(k-1)</a:t>
            </a:r>
            <a:r>
              <a:rPr lang="en-US" sz="1100" dirty="0">
                <a:solidFill>
                  <a:srgbClr val="843C0C"/>
                </a:solidFill>
                <a:latin typeface="Calibri"/>
              </a:rPr>
              <a:t>)</a:t>
            </a:r>
            <a:r>
              <a:rPr sz="1100" dirty="0">
                <a:solidFill>
                  <a:srgbClr val="843C0C"/>
                </a:solidFill>
                <a:latin typeface="Calibri"/>
              </a:rPr>
              <a:t> → </a:t>
            </a:r>
            <a:r>
              <a:rPr lang="el-GR" sz="1100" dirty="0">
                <a:solidFill>
                  <a:srgbClr val="843C0C"/>
                </a:solidFill>
              </a:rPr>
              <a:t>φ</a:t>
            </a:r>
            <a:r>
              <a:rPr lang="en-US" sz="1100" baseline="-25000" dirty="0">
                <a:solidFill>
                  <a:srgbClr val="843C0C"/>
                </a:solidFill>
              </a:rPr>
              <a:t>&gt;1</a:t>
            </a:r>
            <a:r>
              <a:rPr lang="en-US" sz="1100" baseline="30000" dirty="0">
                <a:solidFill>
                  <a:srgbClr val="843C0C"/>
                </a:solidFill>
              </a:rPr>
              <a:t>(k)</a:t>
            </a:r>
            <a:endParaRPr sz="1100" dirty="0">
              <a:solidFill>
                <a:srgbClr val="843C0C"/>
              </a:solidFill>
              <a:latin typeface="Calibri"/>
            </a:endParaRPr>
          </a:p>
        </p:txBody>
      </p:sp>
      <p:cxnSp>
        <p:nvCxnSpPr>
          <p:cNvPr id="15" name="Connector 15">
            <a:extLst>
              <a:ext uri="{FF2B5EF4-FFF2-40B4-BE49-F238E27FC236}">
                <a16:creationId xmlns:a16="http://schemas.microsoft.com/office/drawing/2014/main" id="{5FE0800F-EB87-5333-4AA8-E729D1565ECA}"/>
              </a:ext>
            </a:extLst>
          </p:cNvPr>
          <p:cNvCxnSpPr>
            <a:cxnSpLocks/>
          </p:cNvCxnSpPr>
          <p:nvPr/>
        </p:nvCxnSpPr>
        <p:spPr>
          <a:xfrm>
            <a:off x="11019076" y="2380364"/>
            <a:ext cx="0" cy="736610"/>
          </a:xfrm>
          <a:prstGeom prst="line">
            <a:avLst/>
          </a:prstGeom>
          <a:ln w="19050">
            <a:solidFill>
              <a:srgbClr val="C55A1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Connector 16">
            <a:extLst>
              <a:ext uri="{FF2B5EF4-FFF2-40B4-BE49-F238E27FC236}">
                <a16:creationId xmlns:a16="http://schemas.microsoft.com/office/drawing/2014/main" id="{B9F927DD-19AE-04E5-2677-E721ADCDF8E6}"/>
              </a:ext>
            </a:extLst>
          </p:cNvPr>
          <p:cNvCxnSpPr>
            <a:cxnSpLocks/>
          </p:cNvCxnSpPr>
          <p:nvPr/>
        </p:nvCxnSpPr>
        <p:spPr>
          <a:xfrm flipH="1">
            <a:off x="8139951" y="3116973"/>
            <a:ext cx="2882204" cy="0"/>
          </a:xfrm>
          <a:prstGeom prst="line">
            <a:avLst/>
          </a:prstGeom>
          <a:ln w="19050">
            <a:solidFill>
              <a:srgbClr val="C55A1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TextBox 16">
            <a:extLst>
              <a:ext uri="{FF2B5EF4-FFF2-40B4-BE49-F238E27FC236}">
                <a16:creationId xmlns:a16="http://schemas.microsoft.com/office/drawing/2014/main" id="{7ED34FFF-896E-5890-B5CB-C88B1AA55C4A}"/>
              </a:ext>
            </a:extLst>
          </p:cNvPr>
          <p:cNvSpPr txBox="1"/>
          <p:nvPr/>
        </p:nvSpPr>
        <p:spPr>
          <a:xfrm>
            <a:off x="10390252" y="2905213"/>
            <a:ext cx="583105" cy="170944"/>
          </a:xfrm>
          <a:prstGeom prst="rect">
            <a:avLst/>
          </a:prstGeom>
          <a:noFill/>
        </p:spPr>
        <p:txBody>
          <a:bodyPr wrap="square" lIns="18288" tIns="0" rIns="18288" bIns="0">
            <a:spAutoFit/>
          </a:bodyPr>
          <a:lstStyle/>
          <a:p>
            <a:pPr algn="r"/>
            <a:r>
              <a:rPr lang="el-GR" sz="1100" dirty="0">
                <a:solidFill>
                  <a:srgbClr val="843C0C"/>
                </a:solidFill>
              </a:rPr>
              <a:t>φ</a:t>
            </a:r>
            <a:r>
              <a:rPr lang="en-US" sz="1100" baseline="-25000" dirty="0">
                <a:solidFill>
                  <a:srgbClr val="843C0C"/>
                </a:solidFill>
              </a:rPr>
              <a:t>&gt;1</a:t>
            </a:r>
            <a:r>
              <a:rPr lang="en-US" sz="1100" baseline="30000" dirty="0">
                <a:solidFill>
                  <a:srgbClr val="843C0C"/>
                </a:solidFill>
              </a:rPr>
              <a:t>(k)</a:t>
            </a:r>
            <a:r>
              <a:rPr sz="1100" dirty="0">
                <a:solidFill>
                  <a:srgbClr val="843C0C"/>
                </a:solidFill>
                <a:latin typeface="Calibri"/>
              </a:rPr>
              <a:t> out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75D8E104-888E-0EA4-3BB7-E07A1B562617}"/>
              </a:ext>
            </a:extLst>
          </p:cNvPr>
          <p:cNvSpPr txBox="1"/>
          <p:nvPr/>
        </p:nvSpPr>
        <p:spPr>
          <a:xfrm>
            <a:off x="8182596" y="2905210"/>
            <a:ext cx="583105" cy="170944"/>
          </a:xfrm>
          <a:prstGeom prst="rect">
            <a:avLst/>
          </a:prstGeom>
          <a:noFill/>
        </p:spPr>
        <p:txBody>
          <a:bodyPr wrap="square" lIns="18288" tIns="0" rIns="18288" bIns="0">
            <a:spAutoFit/>
          </a:bodyPr>
          <a:lstStyle/>
          <a:p>
            <a:r>
              <a:rPr lang="el-GR" sz="1100" dirty="0">
                <a:solidFill>
                  <a:srgbClr val="843C0C"/>
                </a:solidFill>
              </a:rPr>
              <a:t>φ</a:t>
            </a:r>
            <a:r>
              <a:rPr lang="el-GR" sz="1100" baseline="-25000" dirty="0">
                <a:solidFill>
                  <a:srgbClr val="843C0C"/>
                </a:solidFill>
              </a:rPr>
              <a:t>&gt;1</a:t>
            </a:r>
            <a:r>
              <a:rPr lang="el-GR" sz="1100" baseline="30000" dirty="0">
                <a:solidFill>
                  <a:srgbClr val="843C0C"/>
                </a:solidFill>
              </a:rPr>
              <a:t>(</a:t>
            </a:r>
            <a:r>
              <a:rPr lang="en-US" sz="1100" baseline="30000" dirty="0">
                <a:solidFill>
                  <a:srgbClr val="843C0C"/>
                </a:solidFill>
              </a:rPr>
              <a:t>k-1)</a:t>
            </a:r>
            <a:r>
              <a:rPr lang="en-US" sz="1100" dirty="0">
                <a:solidFill>
                  <a:srgbClr val="843C0C"/>
                </a:solidFill>
              </a:rPr>
              <a:t> in</a:t>
            </a:r>
          </a:p>
        </p:txBody>
      </p:sp>
      <p:sp>
        <p:nvSpPr>
          <p:cNvPr id="19" name="Rounded Rectangle 22">
            <a:extLst>
              <a:ext uri="{FF2B5EF4-FFF2-40B4-BE49-F238E27FC236}">
                <a16:creationId xmlns:a16="http://schemas.microsoft.com/office/drawing/2014/main" id="{2FF562A5-D1D8-04AB-5618-BB510FF63319}"/>
              </a:ext>
            </a:extLst>
          </p:cNvPr>
          <p:cNvSpPr/>
          <p:nvPr/>
        </p:nvSpPr>
        <p:spPr>
          <a:xfrm>
            <a:off x="5051016" y="3695902"/>
            <a:ext cx="1828800" cy="914400"/>
          </a:xfrm>
          <a:prstGeom prst="roundRect">
            <a:avLst>
              <a:gd name="adj" fmla="val 12000"/>
            </a:avLst>
          </a:prstGeom>
          <a:solidFill>
            <a:srgbClr val="E4DFEC"/>
          </a:solidFill>
          <a:ln w="15875">
            <a:solidFill>
              <a:srgbClr val="7030A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5" tIns="27432" rIns="54865" bIns="27432" rtlCol="0" anchor="ctr"/>
          <a:lstStyle/>
          <a:p>
            <a:pPr algn="ctr"/>
            <a:r>
              <a:rPr sz="1200" b="1" dirty="0">
                <a:solidFill>
                  <a:srgbClr val="3F1F5E"/>
                </a:solidFill>
                <a:latin typeface="Calibri"/>
              </a:rPr>
              <a:t>Primary</a:t>
            </a:r>
            <a:r>
              <a:rPr lang="en-US" sz="1200" b="1" dirty="0">
                <a:solidFill>
                  <a:srgbClr val="3F1F5E"/>
                </a:solidFill>
                <a:latin typeface="Calibri"/>
              </a:rPr>
              <a:t> projections</a:t>
            </a:r>
            <a:r>
              <a:rPr sz="1200" b="1" dirty="0">
                <a:solidFill>
                  <a:srgbClr val="3F1F5E"/>
                </a:solidFill>
                <a:latin typeface="Calibri"/>
              </a:rPr>
              <a:t> pᵥ</a:t>
            </a:r>
          </a:p>
          <a:p>
            <a:pPr algn="ctr"/>
            <a:r>
              <a:rPr lang="en-US" sz="1100" dirty="0">
                <a:solidFill>
                  <a:srgbClr val="3F1F5E"/>
                </a:solidFill>
                <a:latin typeface="Calibri"/>
              </a:rPr>
              <a:t>through the material </a:t>
            </a:r>
            <a:r>
              <a:rPr sz="1100" dirty="0">
                <a:solidFill>
                  <a:srgbClr val="3F1F5E"/>
                </a:solidFill>
                <a:latin typeface="Calibri"/>
              </a:rPr>
              <a:t>densities ρ(Xₖ)</a:t>
            </a:r>
          </a:p>
        </p:txBody>
      </p:sp>
      <p:sp>
        <p:nvSpPr>
          <p:cNvPr id="20" name="Rounded Rectangle 23">
            <a:extLst>
              <a:ext uri="{FF2B5EF4-FFF2-40B4-BE49-F238E27FC236}">
                <a16:creationId xmlns:a16="http://schemas.microsoft.com/office/drawing/2014/main" id="{D535A419-E7FC-EFF9-1A94-ECFCBDB7CA10}"/>
              </a:ext>
            </a:extLst>
          </p:cNvPr>
          <p:cNvSpPr/>
          <p:nvPr/>
        </p:nvSpPr>
        <p:spPr>
          <a:xfrm>
            <a:off x="7154137" y="3695902"/>
            <a:ext cx="1828800" cy="914400"/>
          </a:xfrm>
          <a:prstGeom prst="roundRect">
            <a:avLst>
              <a:gd name="adj" fmla="val 12000"/>
            </a:avLst>
          </a:prstGeom>
          <a:solidFill>
            <a:srgbClr val="FFF2CC"/>
          </a:solidFill>
          <a:ln w="15875">
            <a:solidFill>
              <a:srgbClr val="BF9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5" tIns="27432" rIns="54865" bIns="27432" rtlCol="0" anchor="ctr"/>
          <a:lstStyle/>
          <a:p>
            <a:pPr algn="ctr"/>
            <a:r>
              <a:rPr sz="1200" b="1" dirty="0">
                <a:solidFill>
                  <a:srgbClr val="7F6000"/>
                </a:solidFill>
                <a:latin typeface="Calibri"/>
              </a:rPr>
              <a:t>Scatter-to-primary ratio</a:t>
            </a:r>
          </a:p>
          <a:p>
            <a:pPr algn="ctr"/>
            <a:r>
              <a:rPr sz="1100" dirty="0">
                <a:solidFill>
                  <a:srgbClr val="7F6000"/>
                </a:solidFill>
                <a:latin typeface="Calibri"/>
              </a:rPr>
              <a:t>SPRᵥ = sᵥ / pᵥ</a:t>
            </a:r>
          </a:p>
        </p:txBody>
      </p:sp>
      <p:sp>
        <p:nvSpPr>
          <p:cNvPr id="21" name="Rounded Rectangle 24">
            <a:extLst>
              <a:ext uri="{FF2B5EF4-FFF2-40B4-BE49-F238E27FC236}">
                <a16:creationId xmlns:a16="http://schemas.microsoft.com/office/drawing/2014/main" id="{F07A4507-1EA2-02FC-CAC0-A5C7B8BDC211}"/>
              </a:ext>
            </a:extLst>
          </p:cNvPr>
          <p:cNvSpPr/>
          <p:nvPr/>
        </p:nvSpPr>
        <p:spPr>
          <a:xfrm>
            <a:off x="9257257" y="3695902"/>
            <a:ext cx="1828800" cy="914400"/>
          </a:xfrm>
          <a:prstGeom prst="roundRect">
            <a:avLst>
              <a:gd name="adj" fmla="val 12000"/>
            </a:avLst>
          </a:prstGeom>
          <a:solidFill>
            <a:srgbClr val="FFF2CC"/>
          </a:solidFill>
          <a:ln w="15875">
            <a:solidFill>
              <a:srgbClr val="BF9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5" tIns="27432" rIns="54865" bIns="27432" rtlCol="0" anchor="ctr"/>
          <a:lstStyle/>
          <a:p>
            <a:pPr algn="ctr"/>
            <a:r>
              <a:rPr sz="1200" b="1" dirty="0">
                <a:solidFill>
                  <a:srgbClr val="7F6000"/>
                </a:solidFill>
                <a:latin typeface="Calibri"/>
              </a:rPr>
              <a:t>Corrected projections</a:t>
            </a:r>
          </a:p>
          <a:p>
            <a:pPr algn="ctr"/>
            <a:r>
              <a:rPr sz="1100" dirty="0">
                <a:solidFill>
                  <a:srgbClr val="7F6000"/>
                </a:solidFill>
                <a:latin typeface="Calibri"/>
              </a:rPr>
              <a:t>Yᵥ / (1 + SPRᵥ)</a:t>
            </a:r>
          </a:p>
        </p:txBody>
      </p:sp>
      <p:sp>
        <p:nvSpPr>
          <p:cNvPr id="22" name="Rounded Rectangle 25">
            <a:extLst>
              <a:ext uri="{FF2B5EF4-FFF2-40B4-BE49-F238E27FC236}">
                <a16:creationId xmlns:a16="http://schemas.microsoft.com/office/drawing/2014/main" id="{DBF5B9B2-44DC-F285-AFD5-7D9071D72AE4}"/>
              </a:ext>
            </a:extLst>
          </p:cNvPr>
          <p:cNvSpPr/>
          <p:nvPr/>
        </p:nvSpPr>
        <p:spPr>
          <a:xfrm>
            <a:off x="11360376" y="3695902"/>
            <a:ext cx="2057400" cy="914400"/>
          </a:xfrm>
          <a:prstGeom prst="roundRect">
            <a:avLst>
              <a:gd name="adj" fmla="val 12000"/>
            </a:avLst>
          </a:prstGeom>
          <a:solidFill>
            <a:srgbClr val="DEEAF6"/>
          </a:solidFill>
          <a:ln w="15875">
            <a:solidFill>
              <a:srgbClr val="2F559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5" tIns="27432" rIns="54865" bIns="27432" rtlCol="0" anchor="ctr"/>
          <a:lstStyle/>
          <a:p>
            <a:pPr algn="ctr"/>
            <a:r>
              <a:rPr lang="en-US" sz="1200" b="1" dirty="0">
                <a:solidFill>
                  <a:srgbClr val="1F3864"/>
                </a:solidFill>
                <a:latin typeface="Calibri"/>
              </a:rPr>
              <a:t>One or more </a:t>
            </a:r>
            <a:r>
              <a:rPr sz="1200" b="1" dirty="0">
                <a:solidFill>
                  <a:srgbClr val="1F3864"/>
                </a:solidFill>
                <a:latin typeface="Calibri"/>
              </a:rPr>
              <a:t>MBIR iterations</a:t>
            </a:r>
          </a:p>
          <a:p>
            <a:pPr algn="ctr"/>
            <a:r>
              <a:rPr sz="1100" dirty="0">
                <a:solidFill>
                  <a:srgbClr val="1F3864"/>
                </a:solidFill>
                <a:latin typeface="Calibri"/>
              </a:rPr>
              <a:t>warm-started at Xₖ</a:t>
            </a:r>
          </a:p>
          <a:p>
            <a:pPr algn="ctr"/>
            <a:r>
              <a:rPr sz="1100" dirty="0">
                <a:solidFill>
                  <a:srgbClr val="1F3864"/>
                </a:solidFill>
                <a:latin typeface="Calibri"/>
              </a:rPr>
              <a:t>→ Xₖ₊₁</a:t>
            </a:r>
          </a:p>
        </p:txBody>
      </p:sp>
      <p:cxnSp>
        <p:nvCxnSpPr>
          <p:cNvPr id="23" name="Connector 26">
            <a:extLst>
              <a:ext uri="{FF2B5EF4-FFF2-40B4-BE49-F238E27FC236}">
                <a16:creationId xmlns:a16="http://schemas.microsoft.com/office/drawing/2014/main" id="{90AD685F-CC62-F8F0-656F-E064A0D96717}"/>
              </a:ext>
            </a:extLst>
          </p:cNvPr>
          <p:cNvCxnSpPr>
            <a:cxnSpLocks/>
            <a:stCxn id="19" idx="3"/>
            <a:endCxn id="20" idx="1"/>
          </p:cNvCxnSpPr>
          <p:nvPr/>
        </p:nvCxnSpPr>
        <p:spPr>
          <a:xfrm>
            <a:off x="6879816" y="4153102"/>
            <a:ext cx="274320" cy="0"/>
          </a:xfrm>
          <a:prstGeom prst="line">
            <a:avLst/>
          </a:prstGeom>
          <a:ln w="19050">
            <a:solidFill>
              <a:srgbClr val="7030A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7">
            <a:extLst>
              <a:ext uri="{FF2B5EF4-FFF2-40B4-BE49-F238E27FC236}">
                <a16:creationId xmlns:a16="http://schemas.microsoft.com/office/drawing/2014/main" id="{C2D28982-7B38-81D2-472D-40EEEDD609A1}"/>
              </a:ext>
            </a:extLst>
          </p:cNvPr>
          <p:cNvCxnSpPr>
            <a:cxnSpLocks/>
            <a:stCxn id="20" idx="3"/>
            <a:endCxn id="21" idx="1"/>
          </p:cNvCxnSpPr>
          <p:nvPr/>
        </p:nvCxnSpPr>
        <p:spPr>
          <a:xfrm>
            <a:off x="8982936" y="4153102"/>
            <a:ext cx="274320" cy="0"/>
          </a:xfrm>
          <a:prstGeom prst="line">
            <a:avLst/>
          </a:prstGeom>
          <a:ln w="19050">
            <a:solidFill>
              <a:srgbClr val="BF900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8">
            <a:extLst>
              <a:ext uri="{FF2B5EF4-FFF2-40B4-BE49-F238E27FC236}">
                <a16:creationId xmlns:a16="http://schemas.microsoft.com/office/drawing/2014/main" id="{8C8918E4-7470-1511-49BD-73C593899A30}"/>
              </a:ext>
            </a:extLst>
          </p:cNvPr>
          <p:cNvCxnSpPr>
            <a:cxnSpLocks/>
            <a:stCxn id="21" idx="3"/>
            <a:endCxn id="22" idx="1"/>
          </p:cNvCxnSpPr>
          <p:nvPr/>
        </p:nvCxnSpPr>
        <p:spPr>
          <a:xfrm>
            <a:off x="11086056" y="4153102"/>
            <a:ext cx="274320" cy="0"/>
          </a:xfrm>
          <a:prstGeom prst="line">
            <a:avLst/>
          </a:prstGeom>
          <a:ln w="19050">
            <a:solidFill>
              <a:srgbClr val="BF900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39">
            <a:extLst>
              <a:ext uri="{FF2B5EF4-FFF2-40B4-BE49-F238E27FC236}">
                <a16:creationId xmlns:a16="http://schemas.microsoft.com/office/drawing/2014/main" id="{3544C87C-ABA4-B6E3-DAB1-F928CB70B66A}"/>
              </a:ext>
            </a:extLst>
          </p:cNvPr>
          <p:cNvCxnSpPr>
            <a:cxnSpLocks/>
            <a:stCxn id="22" idx="3"/>
          </p:cNvCxnSpPr>
          <p:nvPr/>
        </p:nvCxnSpPr>
        <p:spPr>
          <a:xfrm>
            <a:off x="13417776" y="4153102"/>
            <a:ext cx="274320" cy="0"/>
          </a:xfrm>
          <a:prstGeom prst="line">
            <a:avLst/>
          </a:prstGeom>
          <a:ln w="19050">
            <a:solidFill>
              <a:srgbClr val="2F559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Connector 40">
            <a:extLst>
              <a:ext uri="{FF2B5EF4-FFF2-40B4-BE49-F238E27FC236}">
                <a16:creationId xmlns:a16="http://schemas.microsoft.com/office/drawing/2014/main" id="{18ACB701-1DBF-5541-57F7-D11CD00A23DC}"/>
              </a:ext>
            </a:extLst>
          </p:cNvPr>
          <p:cNvCxnSpPr>
            <a:cxnSpLocks/>
          </p:cNvCxnSpPr>
          <p:nvPr/>
        </p:nvCxnSpPr>
        <p:spPr>
          <a:xfrm>
            <a:off x="13692096" y="4148555"/>
            <a:ext cx="0" cy="656879"/>
          </a:xfrm>
          <a:prstGeom prst="line">
            <a:avLst/>
          </a:prstGeom>
          <a:ln w="19050">
            <a:solidFill>
              <a:srgbClr val="2F559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Connector 41">
            <a:extLst>
              <a:ext uri="{FF2B5EF4-FFF2-40B4-BE49-F238E27FC236}">
                <a16:creationId xmlns:a16="http://schemas.microsoft.com/office/drawing/2014/main" id="{88740F43-30B5-92E3-21FF-11C5F5D73CB3}"/>
              </a:ext>
            </a:extLst>
          </p:cNvPr>
          <p:cNvCxnSpPr>
            <a:cxnSpLocks/>
          </p:cNvCxnSpPr>
          <p:nvPr/>
        </p:nvCxnSpPr>
        <p:spPr>
          <a:xfrm flipH="1">
            <a:off x="4784650" y="4805431"/>
            <a:ext cx="8907449" cy="0"/>
          </a:xfrm>
          <a:prstGeom prst="line">
            <a:avLst/>
          </a:prstGeom>
          <a:ln w="19050">
            <a:solidFill>
              <a:srgbClr val="2F559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" name="Connector 42">
            <a:extLst>
              <a:ext uri="{FF2B5EF4-FFF2-40B4-BE49-F238E27FC236}">
                <a16:creationId xmlns:a16="http://schemas.microsoft.com/office/drawing/2014/main" id="{5CAFA40E-D8E6-8C6E-C640-7BCC286D1E33}"/>
              </a:ext>
            </a:extLst>
          </p:cNvPr>
          <p:cNvCxnSpPr>
            <a:cxnSpLocks/>
          </p:cNvCxnSpPr>
          <p:nvPr/>
        </p:nvCxnSpPr>
        <p:spPr>
          <a:xfrm flipV="1">
            <a:off x="4779347" y="894143"/>
            <a:ext cx="0" cy="3911288"/>
          </a:xfrm>
          <a:prstGeom prst="line">
            <a:avLst/>
          </a:prstGeom>
          <a:ln w="19050">
            <a:solidFill>
              <a:srgbClr val="2F559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43">
            <a:extLst>
              <a:ext uri="{FF2B5EF4-FFF2-40B4-BE49-F238E27FC236}">
                <a16:creationId xmlns:a16="http://schemas.microsoft.com/office/drawing/2014/main" id="{E6659425-013D-9359-787B-2C6E079055E1}"/>
              </a:ext>
            </a:extLst>
          </p:cNvPr>
          <p:cNvCxnSpPr/>
          <p:nvPr/>
        </p:nvCxnSpPr>
        <p:spPr>
          <a:xfrm>
            <a:off x="4779347" y="894142"/>
            <a:ext cx="274320" cy="0"/>
          </a:xfrm>
          <a:prstGeom prst="line">
            <a:avLst/>
          </a:prstGeom>
          <a:ln w="19050">
            <a:solidFill>
              <a:srgbClr val="2F5597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" name="Rounded Rectangle 45">
            <a:extLst>
              <a:ext uri="{FF2B5EF4-FFF2-40B4-BE49-F238E27FC236}">
                <a16:creationId xmlns:a16="http://schemas.microsoft.com/office/drawing/2014/main" id="{A802D969-F421-AEB9-4FB3-F320BFAB80C0}"/>
              </a:ext>
            </a:extLst>
          </p:cNvPr>
          <p:cNvSpPr/>
          <p:nvPr/>
        </p:nvSpPr>
        <p:spPr>
          <a:xfrm>
            <a:off x="14081709" y="3695943"/>
            <a:ext cx="1828800" cy="914400"/>
          </a:xfrm>
          <a:prstGeom prst="roundRect">
            <a:avLst>
              <a:gd name="adj" fmla="val 12000"/>
            </a:avLst>
          </a:prstGeom>
          <a:solidFill>
            <a:srgbClr val="DEEAF6"/>
          </a:solidFill>
          <a:ln w="15875">
            <a:solidFill>
              <a:srgbClr val="2F559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5" tIns="27432" rIns="54865" bIns="27432" rtlCol="0" anchor="ctr"/>
          <a:lstStyle/>
          <a:p>
            <a:pPr algn="ctr"/>
            <a:r>
              <a:rPr sz="1200" b="1" dirty="0">
                <a:solidFill>
                  <a:srgbClr val="1F3864"/>
                </a:solidFill>
                <a:latin typeface="Calibri"/>
              </a:rPr>
              <a:t>Scatter-corrected</a:t>
            </a:r>
          </a:p>
          <a:p>
            <a:pPr algn="ctr"/>
            <a:r>
              <a:rPr sz="1200" b="1" dirty="0">
                <a:solidFill>
                  <a:srgbClr val="1F3864"/>
                </a:solidFill>
                <a:latin typeface="Calibri"/>
              </a:rPr>
              <a:t>reconstruction</a:t>
            </a:r>
          </a:p>
        </p:txBody>
      </p:sp>
      <p:cxnSp>
        <p:nvCxnSpPr>
          <p:cNvPr id="32" name="Connector: Elbow 31">
            <a:extLst>
              <a:ext uri="{FF2B5EF4-FFF2-40B4-BE49-F238E27FC236}">
                <a16:creationId xmlns:a16="http://schemas.microsoft.com/office/drawing/2014/main" id="{AC0DA71D-952E-4A6F-C56F-9D91BA6AB5CB}"/>
              </a:ext>
            </a:extLst>
          </p:cNvPr>
          <p:cNvCxnSpPr>
            <a:cxnSpLocks/>
            <a:stCxn id="3" idx="3"/>
          </p:cNvCxnSpPr>
          <p:nvPr/>
        </p:nvCxnSpPr>
        <p:spPr>
          <a:xfrm flipV="1">
            <a:off x="4314328" y="685682"/>
            <a:ext cx="736690" cy="121910"/>
          </a:xfrm>
          <a:prstGeom prst="bentConnector3">
            <a:avLst>
              <a:gd name="adj1" fmla="val 26615"/>
            </a:avLst>
          </a:prstGeom>
          <a:ln w="19050">
            <a:solidFill>
              <a:srgbClr val="2F5597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: Elbow 32">
            <a:extLst>
              <a:ext uri="{FF2B5EF4-FFF2-40B4-BE49-F238E27FC236}">
                <a16:creationId xmlns:a16="http://schemas.microsoft.com/office/drawing/2014/main" id="{8D3D0BA7-2682-68DE-04E6-48A0C8E0E112}"/>
              </a:ext>
            </a:extLst>
          </p:cNvPr>
          <p:cNvCxnSpPr>
            <a:cxnSpLocks/>
            <a:stCxn id="7" idx="2"/>
            <a:endCxn id="10" idx="0"/>
          </p:cNvCxnSpPr>
          <p:nvPr/>
        </p:nvCxnSpPr>
        <p:spPr>
          <a:xfrm rot="16200000" flipH="1">
            <a:off x="6413472" y="1502540"/>
            <a:ext cx="658370" cy="182879"/>
          </a:xfrm>
          <a:prstGeom prst="bentConnector3">
            <a:avLst>
              <a:gd name="adj1" fmla="val 23872"/>
            </a:avLst>
          </a:prstGeom>
          <a:ln w="19050">
            <a:solidFill>
              <a:srgbClr val="548235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: Elbow 33">
            <a:extLst>
              <a:ext uri="{FF2B5EF4-FFF2-40B4-BE49-F238E27FC236}">
                <a16:creationId xmlns:a16="http://schemas.microsoft.com/office/drawing/2014/main" id="{F95CD050-454F-AA79-747E-4B37AB6AD3C5}"/>
              </a:ext>
            </a:extLst>
          </p:cNvPr>
          <p:cNvCxnSpPr>
            <a:cxnSpLocks/>
            <a:endCxn id="19" idx="0"/>
          </p:cNvCxnSpPr>
          <p:nvPr/>
        </p:nvCxnSpPr>
        <p:spPr>
          <a:xfrm rot="16200000" flipH="1">
            <a:off x="4520736" y="2251222"/>
            <a:ext cx="2272775" cy="616587"/>
          </a:xfrm>
          <a:prstGeom prst="bentConnector3">
            <a:avLst>
              <a:gd name="adj1" fmla="val 90757"/>
            </a:avLst>
          </a:prstGeom>
          <a:ln w="19050">
            <a:solidFill>
              <a:srgbClr val="548235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: Elbow 34">
            <a:extLst>
              <a:ext uri="{FF2B5EF4-FFF2-40B4-BE49-F238E27FC236}">
                <a16:creationId xmlns:a16="http://schemas.microsoft.com/office/drawing/2014/main" id="{D89AEA0E-6600-5574-BA89-03FF755DC377}"/>
              </a:ext>
            </a:extLst>
          </p:cNvPr>
          <p:cNvCxnSpPr>
            <a:cxnSpLocks/>
            <a:stCxn id="11" idx="2"/>
            <a:endCxn id="20" idx="0"/>
          </p:cNvCxnSpPr>
          <p:nvPr/>
        </p:nvCxnSpPr>
        <p:spPr>
          <a:xfrm rot="5400000">
            <a:off x="9730464" y="1173365"/>
            <a:ext cx="860610" cy="4184465"/>
          </a:xfrm>
          <a:prstGeom prst="bentConnector3">
            <a:avLst>
              <a:gd name="adj1" fmla="val 76299"/>
            </a:avLst>
          </a:prstGeom>
          <a:ln w="19050">
            <a:solidFill>
              <a:srgbClr val="C55A1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Connector 41">
            <a:extLst>
              <a:ext uri="{FF2B5EF4-FFF2-40B4-BE49-F238E27FC236}">
                <a16:creationId xmlns:a16="http://schemas.microsoft.com/office/drawing/2014/main" id="{ECB2AEA0-2F00-4838-1860-8E336AD066F6}"/>
              </a:ext>
            </a:extLst>
          </p:cNvPr>
          <p:cNvCxnSpPr>
            <a:cxnSpLocks/>
          </p:cNvCxnSpPr>
          <p:nvPr/>
        </p:nvCxnSpPr>
        <p:spPr>
          <a:xfrm flipH="1">
            <a:off x="5342429" y="1423126"/>
            <a:ext cx="1308791" cy="1"/>
          </a:xfrm>
          <a:prstGeom prst="line">
            <a:avLst/>
          </a:prstGeom>
          <a:ln w="19050">
            <a:solidFill>
              <a:srgbClr val="54823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Connector 15">
            <a:extLst>
              <a:ext uri="{FF2B5EF4-FFF2-40B4-BE49-F238E27FC236}">
                <a16:creationId xmlns:a16="http://schemas.microsoft.com/office/drawing/2014/main" id="{A1F60737-1252-826E-9746-43A47D3A970C}"/>
              </a:ext>
            </a:extLst>
          </p:cNvPr>
          <p:cNvCxnSpPr>
            <a:cxnSpLocks/>
          </p:cNvCxnSpPr>
          <p:nvPr/>
        </p:nvCxnSpPr>
        <p:spPr>
          <a:xfrm flipH="1">
            <a:off x="8135655" y="2502446"/>
            <a:ext cx="1219" cy="623684"/>
          </a:xfrm>
          <a:prstGeom prst="line">
            <a:avLst/>
          </a:prstGeom>
          <a:ln w="19050">
            <a:solidFill>
              <a:srgbClr val="C55A1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" name="Connector 13">
            <a:extLst>
              <a:ext uri="{FF2B5EF4-FFF2-40B4-BE49-F238E27FC236}">
                <a16:creationId xmlns:a16="http://schemas.microsoft.com/office/drawing/2014/main" id="{99536874-9D2E-2B82-3379-A47B705592E4}"/>
              </a:ext>
            </a:extLst>
          </p:cNvPr>
          <p:cNvCxnSpPr>
            <a:cxnSpLocks/>
          </p:cNvCxnSpPr>
          <p:nvPr/>
        </p:nvCxnSpPr>
        <p:spPr>
          <a:xfrm flipV="1">
            <a:off x="8126776" y="2499155"/>
            <a:ext cx="213453" cy="3292"/>
          </a:xfrm>
          <a:prstGeom prst="line">
            <a:avLst/>
          </a:prstGeom>
          <a:ln w="19050">
            <a:solidFill>
              <a:srgbClr val="C55A11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" name="Connector 3">
            <a:extLst>
              <a:ext uri="{FF2B5EF4-FFF2-40B4-BE49-F238E27FC236}">
                <a16:creationId xmlns:a16="http://schemas.microsoft.com/office/drawing/2014/main" id="{1BCEA982-8A4E-4C4B-CB5F-8941A910CCE6}"/>
              </a:ext>
            </a:extLst>
          </p:cNvPr>
          <p:cNvCxnSpPr>
            <a:cxnSpLocks/>
            <a:endCxn id="31" idx="1"/>
          </p:cNvCxnSpPr>
          <p:nvPr/>
        </p:nvCxnSpPr>
        <p:spPr>
          <a:xfrm flipV="1">
            <a:off x="13694749" y="4153143"/>
            <a:ext cx="386960" cy="0"/>
          </a:xfrm>
          <a:prstGeom prst="line">
            <a:avLst/>
          </a:prstGeom>
          <a:ln w="19050">
            <a:solidFill>
              <a:srgbClr val="2F5597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102</TotalTime>
  <Words>164</Words>
  <Application>Microsoft Office PowerPoint</Application>
  <PresentationFormat>Custom</PresentationFormat>
  <Paragraphs>27</Paragraphs>
  <Slides>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Jordan Houri</cp:lastModifiedBy>
  <cp:revision>4</cp:revision>
  <dcterms:created xsi:type="dcterms:W3CDTF">2013-01-27T09:14:16Z</dcterms:created>
  <dcterms:modified xsi:type="dcterms:W3CDTF">2026-10-17T18:34:31Z</dcterms:modified>
  <cp:category/>
</cp:coreProperties>
</file>