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280160"/>
            <a:ext cx="2057400" cy="868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3864"/>
                </a:solidFill>
                <a:latin typeface="Calibri"/>
              </a:rPr>
              <a:t>Measured projections Y</a:t>
            </a:r>
          </a:p>
          <a:p>
            <a:pPr algn="ctr"/>
            <a:r>
              <a:rPr sz="1100" b="0">
                <a:solidFill>
                  <a:srgbClr val="1F3864"/>
                </a:solidFill>
                <a:latin typeface="Calibri"/>
              </a:rPr>
              <a:t>primary + scatter, all views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3017520"/>
            <a:ext cx="2057400" cy="86868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3864"/>
                </a:solidFill>
                <a:latin typeface="Calibri"/>
              </a:rPr>
              <a:t>Initial reconstruction X₀</a:t>
            </a:r>
          </a:p>
          <a:p>
            <a:pPr algn="ctr"/>
            <a:r>
              <a:rPr sz="1100" b="0">
                <a:solidFill>
                  <a:srgbClr val="1F3864"/>
                </a:solidFill>
                <a:latin typeface="Calibri"/>
              </a:rPr>
              <a:t>(FDK)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348740" y="2148840"/>
            <a:ext cx="0" cy="86868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788920" y="411480"/>
            <a:ext cx="9098280" cy="5577840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404040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457200"/>
            <a:ext cx="82296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  <a:latin typeface="Calibri"/>
              </a:rPr>
              <a:t>Outer iteration 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914400"/>
            <a:ext cx="4754880" cy="96012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385723"/>
                </a:solidFill>
                <a:latin typeface="Calibri"/>
              </a:rPr>
              <a:t>Material densities ρ(Xₖ)</a:t>
            </a:r>
          </a:p>
          <a:p>
            <a:pPr algn="ctr"/>
            <a:r>
              <a:rPr sz="1100" b="0">
                <a:solidFill>
                  <a:srgbClr val="385723"/>
                </a:solidFill>
                <a:latin typeface="Calibri"/>
              </a:rPr>
              <a:t>each voxel a mixture of the two anchor materials</a:t>
            </a:r>
          </a:p>
          <a:p>
            <a:pPr algn="ctr"/>
            <a:r>
              <a:rPr sz="1100" b="0">
                <a:solidFill>
                  <a:srgbClr val="385723"/>
                </a:solidFill>
                <a:latin typeface="Calibri"/>
              </a:rPr>
              <a:t>whose attenuations bracket its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914400"/>
            <a:ext cx="3429000" cy="9601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404040"/>
                </a:solidFill>
                <a:latin typeface="Calibri"/>
              </a:rPr>
              <a:t>Schedule</a:t>
            </a:r>
          </a:p>
          <a:p>
            <a:pPr algn="ctr"/>
            <a:r>
              <a:rPr sz="900" b="0">
                <a:solidFill>
                  <a:srgbClr val="404040"/>
                </a:solidFill>
                <a:latin typeface="Calibri"/>
              </a:rPr>
              <a:t>scatter step at every n-th outer iteration;</a:t>
            </a:r>
          </a:p>
          <a:p>
            <a:pPr algn="ctr"/>
            <a:r>
              <a:rPr sz="900" b="0">
                <a:solidFill>
                  <a:srgbClr val="404040"/>
                </a:solidFill>
                <a:latin typeface="Calibri"/>
              </a:rPr>
              <a:t>scatter on every m-th view, the others</a:t>
            </a:r>
          </a:p>
          <a:p>
            <a:pPr algn="ctr"/>
            <a:r>
              <a:rPr sz="900" b="0">
                <a:solidFill>
                  <a:srgbClr val="404040"/>
                </a:solidFill>
                <a:latin typeface="Calibri"/>
              </a:rPr>
              <a:t>interpolated in angle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2148840"/>
            <a:ext cx="8138159" cy="2103120"/>
          </a:xfrm>
          <a:prstGeom prst="rect">
            <a:avLst/>
          </a:prstGeom>
          <a:solidFill>
            <a:srgbClr val="FDF3EC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843C0C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176272"/>
            <a:ext cx="7772400" cy="25603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00" b="1" i="0">
                <a:solidFill>
                  <a:srgbClr val="843C0C"/>
                </a:solidFill>
                <a:latin typeface="Calibri"/>
              </a:rPr>
              <a:t>LBTE scatter solver, one step per view v (deterministic, multigroup, discrete ordinates)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2487168"/>
            <a:ext cx="2514600" cy="10972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843C0C"/>
                </a:solidFill>
                <a:latin typeface="Calibri"/>
              </a:rPr>
              <a:t>Uncollided fluence</a:t>
            </a:r>
          </a:p>
          <a:p>
            <a:pPr algn="ctr"/>
            <a:r>
              <a:rPr sz="1100" b="0">
                <a:solidFill>
                  <a:srgbClr val="843C0C"/>
                </a:solidFill>
                <a:latin typeface="Calibri"/>
              </a:rPr>
              <a:t>and first-collision source</a:t>
            </a:r>
          </a:p>
          <a:p>
            <a:pPr algn="ctr"/>
            <a:r>
              <a:rPr sz="1100" b="0">
                <a:solidFill>
                  <a:srgbClr val="843C0C"/>
                </a:solidFill>
                <a:latin typeface="Calibri"/>
              </a:rPr>
              <a:t>φ₁⁽ᵏ⁾ of the densities ρ(Xₖ)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487168"/>
            <a:ext cx="2697480" cy="10972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843C0C"/>
                </a:solidFill>
                <a:latin typeface="Calibri"/>
              </a:rPr>
              <a:t>One transport sweep Gₖ</a:t>
            </a:r>
          </a:p>
          <a:p>
            <a:pPr algn="ctr"/>
            <a:r>
              <a:rPr sz="1000" b="0">
                <a:solidFill>
                  <a:srgbClr val="843C0C"/>
                </a:solidFill>
                <a:latin typeface="Calibri"/>
              </a:rPr>
              <a:t>over φ₁⁽ᵏ⁾ + the aged accumulator</a:t>
            </a:r>
          </a:p>
          <a:p>
            <a:pPr algn="ctr"/>
            <a:r>
              <a:rPr sz="1000" b="0">
                <a:solidFill>
                  <a:srgbClr val="843C0C"/>
                </a:solidFill>
                <a:latin typeface="Calibri"/>
              </a:rPr>
              <a:t>Φᵥ⁽ᵏ⁻¹⁾  →  Φᵥ⁽ᵏ⁾ (all collision orders)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2487168"/>
            <a:ext cx="2148840" cy="109728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843C0C"/>
                </a:solidFill>
                <a:latin typeface="Calibri"/>
              </a:rPr>
              <a:t>Collapsed-cone projection</a:t>
            </a:r>
          </a:p>
          <a:p>
            <a:pPr algn="ctr"/>
            <a:r>
              <a:rPr sz="1000" b="0">
                <a:solidFill>
                  <a:srgbClr val="843C0C"/>
                </a:solidFill>
                <a:latin typeface="Calibri"/>
              </a:rPr>
              <a:t>of the scatter emission</a:t>
            </a:r>
          </a:p>
          <a:p>
            <a:pPr algn="ctr"/>
            <a:r>
              <a:rPr sz="1000" b="0">
                <a:solidFill>
                  <a:srgbClr val="843C0C"/>
                </a:solidFill>
                <a:latin typeface="Calibri"/>
              </a:rPr>
              <a:t>to the panel → sᵥ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63639" y="3035808"/>
            <a:ext cx="274321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235440" y="3035808"/>
            <a:ext cx="27432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83980" y="3584448"/>
            <a:ext cx="0" cy="292608"/>
          </a:xfrm>
          <a:prstGeom prst="line">
            <a:avLst/>
          </a:prstGeom>
          <a:ln w="38100">
            <a:solidFill>
              <a:srgbClr val="C55A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789420" y="3877056"/>
            <a:ext cx="2194560" cy="0"/>
          </a:xfrm>
          <a:prstGeom prst="line">
            <a:avLst/>
          </a:prstGeom>
          <a:ln w="38100">
            <a:solidFill>
              <a:srgbClr val="C55A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789420" y="3602736"/>
            <a:ext cx="0" cy="274320"/>
          </a:xfrm>
          <a:prstGeom prst="line">
            <a:avLst/>
          </a:prstGeom>
          <a:ln w="38100">
            <a:solidFill>
              <a:srgbClr val="C55A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703320" y="3913632"/>
            <a:ext cx="786384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050" b="1" i="0">
                <a:solidFill>
                  <a:srgbClr val="843C0C"/>
                </a:solidFill>
                <a:latin typeface="Calibri"/>
              </a:rPr>
              <a:t>Age-ordered recursion:   Φᵥ⁽ᵏ⁾ = Gₖ φ₁⁽ᵏ⁾ + Gₖ Φᵥ⁽ᵏ⁻¹⁾      (Φᵥ kept per view across outer iterations)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133087"/>
            <a:ext cx="786384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 i="1">
                <a:solidFill>
                  <a:srgbClr val="843C0C"/>
                </a:solidFill>
                <a:latin typeface="Calibri"/>
              </a:rPr>
              <a:t>= Gₖ φ₁⁽ᵏ⁾ + GₖGₖ₋₁ φ₁⁽ᵏ⁻¹⁾ + GₖGₖ₋₁Gₖ₋₂ φ₁⁽ᵏ⁻²⁾ + … :  2nd order from Xₖ, 3rd from Xₖ₋₁, …  (low orders refreshed first)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9700" y="3657600"/>
            <a:ext cx="146304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 i="1">
                <a:solidFill>
                  <a:srgbClr val="843C0C"/>
                </a:solidFill>
                <a:latin typeface="Calibri"/>
              </a:rPr>
              <a:t>Φᵥ⁽ᵏ⁾ 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12180" y="3657600"/>
            <a:ext cx="73152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900" b="0" i="1">
                <a:solidFill>
                  <a:srgbClr val="843C0C"/>
                </a:solidFill>
                <a:latin typeface="Calibri"/>
              </a:rPr>
              <a:t>Φᵥ⁽ᵏ⁻¹⁾ 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4617720"/>
            <a:ext cx="2103120" cy="960120"/>
          </a:xfrm>
          <a:prstGeom prst="roundRect">
            <a:avLst>
              <a:gd name="adj" fmla="val 12000"/>
            </a:avLst>
          </a:prstGeom>
          <a:solidFill>
            <a:srgbClr val="E4DFEC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3F1F5E"/>
                </a:solidFill>
                <a:latin typeface="Calibri"/>
              </a:rPr>
              <a:t>Primary pᵥ of every view</a:t>
            </a:r>
          </a:p>
          <a:p>
            <a:pPr algn="ctr"/>
            <a:r>
              <a:rPr sz="1000" b="0">
                <a:solidFill>
                  <a:srgbClr val="3F1F5E"/>
                </a:solidFill>
                <a:latin typeface="Calibri"/>
              </a:rPr>
              <a:t>projection of the densities ρ(Xₖ)</a:t>
            </a:r>
          </a:p>
          <a:p>
            <a:pPr algn="ctr"/>
            <a:r>
              <a:rPr sz="1000" b="0">
                <a:solidFill>
                  <a:srgbClr val="3F1F5E"/>
                </a:solidFill>
                <a:latin typeface="Calibri"/>
              </a:rPr>
              <a:t>with the spectrum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32120" y="4617720"/>
            <a:ext cx="2011680" cy="96012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7F6000"/>
                </a:solidFill>
                <a:latin typeface="Calibri"/>
              </a:rPr>
              <a:t>Scatter-to-primary ratio</a:t>
            </a:r>
          </a:p>
          <a:p>
            <a:pPr algn="ctr"/>
            <a:r>
              <a:rPr sz="1000" b="0">
                <a:solidFill>
                  <a:srgbClr val="7F6000"/>
                </a:solidFill>
                <a:latin typeface="Calibri"/>
              </a:rPr>
              <a:t>SPRᵥ = sᵥ / pᵥ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4617720"/>
            <a:ext cx="1828800" cy="96012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7F6000"/>
                </a:solidFill>
                <a:latin typeface="Calibri"/>
              </a:rPr>
              <a:t>Corrected projections</a:t>
            </a:r>
          </a:p>
          <a:p>
            <a:pPr algn="ctr"/>
            <a:r>
              <a:rPr sz="1000" b="0">
                <a:solidFill>
                  <a:srgbClr val="7F6000"/>
                </a:solidFill>
                <a:latin typeface="Calibri"/>
              </a:rPr>
              <a:t>Yᵥ / (1 + SPRᵥ)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4617720"/>
            <a:ext cx="1828800" cy="9601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3864"/>
                </a:solidFill>
                <a:latin typeface="Calibri"/>
              </a:rPr>
              <a:t>n MBIR iterations</a:t>
            </a:r>
          </a:p>
          <a:p>
            <a:pPr algn="ctr"/>
            <a:r>
              <a:rPr sz="1000" b="0">
                <a:solidFill>
                  <a:srgbClr val="1F3864"/>
                </a:solidFill>
                <a:latin typeface="Calibri"/>
              </a:rPr>
              <a:t>warm-started at Xₖ</a:t>
            </a:r>
          </a:p>
          <a:p>
            <a:pPr algn="ctr"/>
            <a:r>
              <a:rPr sz="1000" b="0">
                <a:solidFill>
                  <a:srgbClr val="1F3864"/>
                </a:solidFill>
                <a:latin typeface="Calibri"/>
              </a:rPr>
              <a:t>→ Xₖ₊₁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03520" y="5097780"/>
            <a:ext cx="22860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543800" y="5097780"/>
            <a:ext cx="22860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601200" y="5097780"/>
            <a:ext cx="22860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006339" y="1874519"/>
            <a:ext cx="0" cy="612649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383280" y="1874519"/>
            <a:ext cx="0" cy="2743201"/>
          </a:xfrm>
          <a:prstGeom prst="line">
            <a:avLst/>
          </a:prstGeom>
          <a:ln w="15875">
            <a:solidFill>
              <a:srgbClr val="5482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980944" y="3108960"/>
            <a:ext cx="4572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800" b="0" i="1">
                <a:solidFill>
                  <a:srgbClr val="385723"/>
                </a:solidFill>
                <a:latin typeface="Calibri"/>
              </a:rPr>
              <a:t>ρ(Xₖ)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584180" y="3584448"/>
            <a:ext cx="0" cy="850392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6812280" y="4434840"/>
            <a:ext cx="3771900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812280" y="4434840"/>
            <a:ext cx="0" cy="18288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885432" y="4425696"/>
            <a:ext cx="54864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 i="1">
                <a:solidFill>
                  <a:srgbClr val="843C0C"/>
                </a:solidFill>
                <a:latin typeface="Calibri"/>
              </a:rPr>
              <a:t>sᵥ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377440" y="3451860"/>
            <a:ext cx="228600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2606040" y="1211580"/>
            <a:ext cx="0" cy="224028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606040" y="1211580"/>
            <a:ext cx="59436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658600" y="5097780"/>
            <a:ext cx="137160" cy="0"/>
          </a:xfrm>
          <a:prstGeom prst="line">
            <a:avLst/>
          </a:prstGeom>
          <a:ln w="190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795760" y="5097780"/>
            <a:ext cx="0" cy="681228"/>
          </a:xfrm>
          <a:prstGeom prst="line">
            <a:avLst/>
          </a:prstGeom>
          <a:ln w="190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2971800" y="5779008"/>
            <a:ext cx="8823960" cy="0"/>
          </a:xfrm>
          <a:prstGeom prst="line">
            <a:avLst/>
          </a:prstGeom>
          <a:ln w="190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971800" y="1577339"/>
            <a:ext cx="0" cy="4201669"/>
          </a:xfrm>
          <a:prstGeom prst="line">
            <a:avLst/>
          </a:prstGeom>
          <a:ln w="190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971800" y="1577339"/>
            <a:ext cx="228600" cy="0"/>
          </a:xfrm>
          <a:prstGeom prst="line">
            <a:avLst/>
          </a:prstGeom>
          <a:ln w="19050">
            <a:solidFill>
              <a:srgbClr val="2F559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943600" y="5596128"/>
            <a:ext cx="32004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900" b="0" i="1">
                <a:solidFill>
                  <a:srgbClr val="1F3864"/>
                </a:solidFill>
                <a:latin typeface="Calibri"/>
              </a:rPr>
              <a:t>Xₖ₊₁ → next outer iteration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29800" y="6217920"/>
            <a:ext cx="1828800" cy="5029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3864"/>
                </a:solidFill>
                <a:latin typeface="Calibri"/>
              </a:rPr>
              <a:t>Scatter-corrected</a:t>
            </a:r>
          </a:p>
          <a:p>
            <a:pPr algn="ctr"/>
            <a:r>
              <a:rPr sz="1000" b="0">
                <a:solidFill>
                  <a:srgbClr val="1F3864"/>
                </a:solidFill>
                <a:latin typeface="Calibri"/>
              </a:rPr>
              <a:t>reconstruction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744200" y="5577840"/>
            <a:ext cx="0" cy="64008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20040" y="6172200"/>
            <a:ext cx="868680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  <a:latin typeface="Calibri"/>
              </a:rPr>
              <a:t>CITRUS: Coupled Iterative Tomographic reconstruction and Recursively-Updated Scatter.  With X held fixed, N outer iterations reproduce N source</a:t>
            </a:r>
          </a:p>
          <a:p>
            <a:pPr algn="l"/>
            <a:r>
              <a:rPr sz="900" b="0" i="1">
                <a:solidFill>
                  <a:srgbClr val="404040"/>
                </a:solidFill>
                <a:latin typeface="Calibri"/>
              </a:rPr>
              <a:t>iterations of the transport solver, so the scatter estimate converges together with the reconstruction for one sweep per view per outer iteration.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